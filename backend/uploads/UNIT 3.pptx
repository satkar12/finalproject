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0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  <p:sldId id="333" r:id="rId77"/>
    <p:sldId id="334" r:id="rId78"/>
    <p:sldId id="335" r:id="rId79"/>
    <p:sldId id="336" r:id="rId8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88" d="100"/>
          <a:sy n="88" d="100"/>
        </p:scale>
        <p:origin x="-1282" y="-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www.infomotions.com/pointers/media/client-server-illustration.gif" TargetMode="Externa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w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w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wmf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w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wmf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wmf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UNIT 3: Overview</a:t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 smtClean="0"/>
              <a:t>3.1 Architectural Design Decisions</a:t>
            </a:r>
          </a:p>
          <a:p>
            <a:pPr>
              <a:buNone/>
            </a:pPr>
            <a:r>
              <a:rPr lang="en-US" dirty="0" smtClean="0"/>
              <a:t>3.2 System Organization</a:t>
            </a:r>
          </a:p>
          <a:p>
            <a:pPr>
              <a:buNone/>
            </a:pPr>
            <a:r>
              <a:rPr lang="en-US" dirty="0" smtClean="0"/>
              <a:t>3.3 Modular Decomposition styles</a:t>
            </a:r>
          </a:p>
          <a:p>
            <a:pPr>
              <a:buNone/>
            </a:pPr>
            <a:r>
              <a:rPr lang="en-US" dirty="0" smtClean="0"/>
              <a:t>3.4 Control Styles</a:t>
            </a:r>
          </a:p>
          <a:p>
            <a:pPr>
              <a:buNone/>
            </a:pPr>
            <a:r>
              <a:rPr lang="en-US" dirty="0" smtClean="0"/>
              <a:t>3.5 Reference architectures</a:t>
            </a:r>
          </a:p>
          <a:p>
            <a:pPr>
              <a:buNone/>
            </a:pPr>
            <a:r>
              <a:rPr lang="en-US" dirty="0" smtClean="0"/>
              <a:t>3.6 Multiprocessor Architecture</a:t>
            </a:r>
          </a:p>
          <a:p>
            <a:pPr>
              <a:buNone/>
            </a:pPr>
            <a:r>
              <a:rPr lang="en-US" dirty="0" smtClean="0"/>
              <a:t>3.7 Client –Server Architectures</a:t>
            </a:r>
          </a:p>
          <a:p>
            <a:pPr>
              <a:buNone/>
            </a:pPr>
            <a:r>
              <a:rPr lang="en-US" dirty="0" smtClean="0"/>
              <a:t>3.8 Distributed Object Architectures</a:t>
            </a:r>
          </a:p>
          <a:p>
            <a:pPr>
              <a:buNone/>
            </a:pPr>
            <a:r>
              <a:rPr lang="en-US" dirty="0" smtClean="0"/>
              <a:t>3.9 Inter organizational distributed Computing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423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UNIT 3: Architectural 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just"/>
            <a:r>
              <a:rPr lang="en-US" dirty="0" smtClean="0"/>
              <a:t>The process of defining a collection of hardware and software components and their interfaces to establish the framework for the development of a computer system.</a:t>
            </a:r>
          </a:p>
          <a:p>
            <a:pPr algn="just"/>
            <a:r>
              <a:rPr lang="en-US" dirty="0" smtClean="0"/>
              <a:t>Architectural Design is the specification of the major components of a system their responsibilities, properties, interfaces, and the relationships and interaction between them.</a:t>
            </a:r>
          </a:p>
          <a:p>
            <a:pPr algn="just"/>
            <a:r>
              <a:rPr lang="en-US" dirty="0" smtClean="0"/>
              <a:t>Here, we choose the overall structure of the system but internal details of major components are ignored.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842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Architectural Design Includes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 smtClean="0"/>
              <a:t>Gross decomposition of the system into major components.</a:t>
            </a:r>
          </a:p>
          <a:p>
            <a:pPr algn="just"/>
            <a:r>
              <a:rPr lang="en-US" dirty="0" smtClean="0"/>
              <a:t>Allocation of functional responsibilities to the components</a:t>
            </a:r>
          </a:p>
          <a:p>
            <a:pPr algn="just"/>
            <a:r>
              <a:rPr lang="en-US" dirty="0" smtClean="0"/>
              <a:t>Component Interfaces</a:t>
            </a:r>
          </a:p>
          <a:p>
            <a:pPr algn="just"/>
            <a:r>
              <a:rPr lang="en-US" dirty="0" smtClean="0"/>
              <a:t>Communication and interaction between components.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104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Architectural Design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System structuring</a:t>
            </a:r>
          </a:p>
          <a:p>
            <a:pPr lvl="1"/>
            <a:r>
              <a:rPr lang="en-GB" dirty="0"/>
              <a:t>The system is decomposed into several principal sub-systems and communications between these sub-systems are identified</a:t>
            </a:r>
          </a:p>
          <a:p>
            <a:r>
              <a:rPr lang="en-GB" b="1" dirty="0"/>
              <a:t>Control modelling</a:t>
            </a:r>
          </a:p>
          <a:p>
            <a:pPr lvl="1"/>
            <a:r>
              <a:rPr lang="en-GB" dirty="0"/>
              <a:t>A model of the control relationships between the different parts of the system is established</a:t>
            </a:r>
          </a:p>
          <a:p>
            <a:r>
              <a:rPr lang="en-GB" b="1" dirty="0"/>
              <a:t>Modular decomposition</a:t>
            </a:r>
          </a:p>
          <a:p>
            <a:pPr lvl="1"/>
            <a:r>
              <a:rPr lang="en-GB" dirty="0"/>
              <a:t>The identified sub-systems are decomposed into modules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520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3.1 Architectural Design Decisions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 smtClean="0"/>
              <a:t>Software architecture is a set of design decisions which, if made incorrectly, may cause your project to be cancelled. (</a:t>
            </a:r>
            <a:r>
              <a:rPr lang="en-US" dirty="0" err="1" smtClean="0"/>
              <a:t>Eoin</a:t>
            </a:r>
            <a:r>
              <a:rPr lang="en-US" dirty="0" smtClean="0"/>
              <a:t> Woods)</a:t>
            </a:r>
          </a:p>
          <a:p>
            <a:pPr algn="just"/>
            <a:r>
              <a:rPr lang="en-US" dirty="0" smtClean="0"/>
              <a:t>Impacts on:-template selection (if possible), system distribution( hardware and processors), how it can be decomposed to subsystems,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453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dirty="0" smtClean="0"/>
              <a:t>Architectural Views/System Structuring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software architecture is the fundamental framework for structuring the system.</a:t>
            </a:r>
          </a:p>
          <a:p>
            <a:r>
              <a:rPr lang="en-US" dirty="0" smtClean="0"/>
              <a:t>Properties such as performance, security and availability are influenced by the architecture used.</a:t>
            </a:r>
          </a:p>
          <a:p>
            <a:r>
              <a:rPr lang="en-US" dirty="0" smtClean="0"/>
              <a:t>You have to make decisions on the overall organization model of a system early in the architecture design process.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831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Sub System and Module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/>
              <a:t>A sub-system is a system in its own right whose operation is independent of the services provided by other sub-systems.</a:t>
            </a:r>
          </a:p>
          <a:p>
            <a:pPr algn="just"/>
            <a:r>
              <a:rPr lang="en-GB" dirty="0"/>
              <a:t>A module is a system component that provides services to other components but would not normally be considered as a separate system</a:t>
            </a:r>
            <a:endParaRPr lang="en-GB" sz="2800" dirty="0">
              <a:latin typeface="Times" pitchFamily="18" charset="0"/>
            </a:endParaRP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39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Architectural 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architectural models may be produced during the design process</a:t>
            </a:r>
          </a:p>
          <a:p>
            <a:r>
              <a:rPr lang="en-GB" dirty="0"/>
              <a:t>Each model presents different perspectives on the architecture:</a:t>
            </a:r>
          </a:p>
          <a:p>
            <a:pPr lvl="1"/>
            <a:r>
              <a:rPr lang="en-GB" dirty="0"/>
              <a:t>Static structural model </a:t>
            </a:r>
          </a:p>
          <a:p>
            <a:pPr lvl="1"/>
            <a:r>
              <a:rPr lang="en-GB" dirty="0"/>
              <a:t>Dynamic process model</a:t>
            </a:r>
          </a:p>
          <a:p>
            <a:pPr lvl="1"/>
            <a:r>
              <a:rPr lang="en-GB" dirty="0"/>
              <a:t>Interface model</a:t>
            </a:r>
          </a:p>
          <a:p>
            <a:pPr lvl="1"/>
            <a:r>
              <a:rPr lang="en-GB" dirty="0"/>
              <a:t>Relationships model</a:t>
            </a:r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30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Static structural model that shows the major system components</a:t>
            </a:r>
          </a:p>
          <a:p>
            <a:r>
              <a:rPr lang="en-GB" dirty="0"/>
              <a:t>Dynamic process model that shows the process structure of the system</a:t>
            </a:r>
          </a:p>
          <a:p>
            <a:r>
              <a:rPr lang="en-GB" dirty="0"/>
              <a:t>Interface model that defines sub-system interfaces</a:t>
            </a:r>
          </a:p>
          <a:p>
            <a:r>
              <a:rPr lang="en-GB" dirty="0"/>
              <a:t>Relationships model such as a data-flow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81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3.2 System Organization/Architectural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 smtClean="0"/>
              <a:t>The three organizational styles/Architectural views widely used are:-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 smtClean="0"/>
              <a:t>A shared data repository style/Repository Model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 smtClean="0"/>
              <a:t>A shared service or server style/The </a:t>
            </a:r>
            <a:r>
              <a:rPr lang="en-US" dirty="0"/>
              <a:t>C</a:t>
            </a:r>
            <a:r>
              <a:rPr lang="en-US" dirty="0" smtClean="0"/>
              <a:t>lient-Server model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dirty="0" smtClean="0"/>
              <a:t>The layered Model/ Abstract Machine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50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dirty="0" smtClean="0"/>
              <a:t>1. Shared </a:t>
            </a:r>
            <a:r>
              <a:rPr lang="en-US" dirty="0"/>
              <a:t>data repository </a:t>
            </a:r>
            <a:r>
              <a:rPr lang="en-US" dirty="0" smtClean="0"/>
              <a:t>style/ Repository </a:t>
            </a:r>
            <a:r>
              <a:rPr lang="en-US" dirty="0"/>
              <a:t>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just"/>
            <a:r>
              <a:rPr lang="en-US" b="1" dirty="0" smtClean="0"/>
              <a:t>Data</a:t>
            </a:r>
            <a:r>
              <a:rPr lang="en-US" dirty="0" smtClean="0"/>
              <a:t>-centered </a:t>
            </a:r>
            <a:r>
              <a:rPr lang="en-US" dirty="0"/>
              <a:t>architecture consists of different components that communicate through </a:t>
            </a:r>
            <a:r>
              <a:rPr lang="en-US" b="1" dirty="0"/>
              <a:t>shared data repositories</a:t>
            </a:r>
            <a:r>
              <a:rPr lang="en-US" dirty="0"/>
              <a:t>. </a:t>
            </a:r>
            <a:endParaRPr lang="en-US" dirty="0" smtClean="0"/>
          </a:p>
          <a:p>
            <a:pPr algn="just"/>
            <a:r>
              <a:rPr lang="en-US" dirty="0" smtClean="0"/>
              <a:t>The </a:t>
            </a:r>
            <a:r>
              <a:rPr lang="en-US" dirty="0"/>
              <a:t>components access a </a:t>
            </a:r>
            <a:r>
              <a:rPr lang="en-US" b="1" dirty="0"/>
              <a:t>shared data</a:t>
            </a:r>
            <a:r>
              <a:rPr lang="en-US" dirty="0"/>
              <a:t> structure and are relatively independent, in that, they interact only through the </a:t>
            </a:r>
            <a:r>
              <a:rPr lang="en-US" b="1" dirty="0"/>
              <a:t>data</a:t>
            </a:r>
            <a:r>
              <a:rPr lang="en-US" dirty="0"/>
              <a:t> store</a:t>
            </a:r>
            <a:r>
              <a:rPr lang="en-US" dirty="0" smtClean="0"/>
              <a:t>.</a:t>
            </a:r>
          </a:p>
          <a:p>
            <a:pPr algn="just"/>
            <a:r>
              <a:rPr lang="en-US" dirty="0" smtClean="0"/>
              <a:t>Sub-system making up a system must exchange information so that they can work together effectively. </a:t>
            </a:r>
          </a:p>
        </p:txBody>
      </p:sp>
    </p:spTree>
    <p:extLst>
      <p:ext uri="{BB962C8B-B14F-4D97-AF65-F5344CB8AC3E}">
        <p14:creationId xmlns:p14="http://schemas.microsoft.com/office/powerpoint/2010/main" val="2457655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data/Repository </a:t>
            </a:r>
            <a:r>
              <a:rPr lang="en-US" dirty="0"/>
              <a:t>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There are fundamental ways in which this can be done</a:t>
            </a:r>
            <a:r>
              <a:rPr lang="en-US" dirty="0" smtClean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All shared data is held in a central database that can be accessed by all sub-systems.(A system model based on a shared database is called as repository model.)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Each subsystem maintains its own database. Data is interchanged with other sub-systems by passing message to them.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035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Shared data repository style/ Repository Model</a:t>
            </a:r>
          </a:p>
        </p:txBody>
      </p:sp>
      <p:sp>
        <p:nvSpPr>
          <p:cNvPr id="3" name="AutoShape 2" descr="Introduction to Software Engineering Lecture 6 – Architectural Design  Topics covered · Architectural design decisions · Architectural views ·  Architectural patterns · Application architectures Software architecture o  The design process for identifying the sub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Introduction to Software Engineering Lecture 6 – Architectural Design  Topics covered · Architectural design decisions · Architectural views ·  Architectural patterns · Application architectures Software architecture o  The design process for identifying the sub ...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4" name="Picture 6" descr="Repository Architecture Sty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1981200"/>
            <a:ext cx="6734175" cy="372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818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smtClean="0"/>
              <a:t>Advantages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smtClean="0"/>
              <a:t>It is efficient way to share large amount of data. There is no need to transmit data explicitly from one subsystem to another.</a:t>
            </a:r>
          </a:p>
          <a:p>
            <a:r>
              <a:rPr lang="en-US" dirty="0" smtClean="0"/>
              <a:t>Sub-systems that produce data need not be concerned with how that data is used by other subsystems.</a:t>
            </a:r>
          </a:p>
          <a:p>
            <a:r>
              <a:rPr lang="en-US" dirty="0"/>
              <a:t>Provides data integrity, backup and restore features.</a:t>
            </a:r>
          </a:p>
          <a:p>
            <a:r>
              <a:rPr lang="en-US" dirty="0"/>
              <a:t>Provides scalability and reusability of agents as they do not have direct communication with each other.</a:t>
            </a:r>
          </a:p>
          <a:p>
            <a:r>
              <a:rPr lang="en-US" dirty="0"/>
              <a:t>Reduces overhead of transient data between software components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311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smtClean="0"/>
              <a:t>Disadvantages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It </a:t>
            </a:r>
            <a:r>
              <a:rPr lang="en-US" dirty="0"/>
              <a:t>is more vulnerable to failure and data replication or duplication is possible.</a:t>
            </a:r>
          </a:p>
          <a:p>
            <a:r>
              <a:rPr lang="en-US" dirty="0"/>
              <a:t>High dependency between data structure of data store and its agents.</a:t>
            </a:r>
          </a:p>
          <a:p>
            <a:r>
              <a:rPr lang="en-US" dirty="0"/>
              <a:t>Changes in data structure highly affect the clients.</a:t>
            </a:r>
          </a:p>
          <a:p>
            <a:r>
              <a:rPr lang="en-US" dirty="0"/>
              <a:t>Evolution of data is difficult and expensive.</a:t>
            </a:r>
          </a:p>
          <a:p>
            <a:r>
              <a:rPr lang="en-US" dirty="0"/>
              <a:t>Cost of moving data on network for distributed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061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A </a:t>
            </a:r>
            <a:r>
              <a:rPr lang="en-US" dirty="0"/>
              <a:t>shared service or server style/The Client-Server model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This model usually distribute data.</a:t>
            </a:r>
          </a:p>
          <a:p>
            <a:r>
              <a:rPr lang="en-US" dirty="0" smtClean="0"/>
              <a:t>It is a system model where the system is organized as a set of services and associated servers and clients that access and use the services.</a:t>
            </a:r>
          </a:p>
          <a:p>
            <a:r>
              <a:rPr lang="en-US" dirty="0" smtClean="0"/>
              <a:t>The major components of this model are: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A set of servers that offer services (process server, file server, print server, etc.)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A set of clients that call on the services offered by servers.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The network that allows the clients to access these services. (necessary in distributed system)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042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>A shared service or server style/The Client-Server model</a:t>
            </a:r>
            <a:br>
              <a:rPr lang="en-US" dirty="0"/>
            </a:br>
            <a:endParaRPr lang="en-US" dirty="0"/>
          </a:p>
        </p:txBody>
      </p:sp>
      <p:pic>
        <p:nvPicPr>
          <p:cNvPr id="3" name="Picture 5" descr="http://www.infomotions.com/pointers/media/client-server-illustration.gif">
            <a:hlinkClick r:id="rId2"/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905000"/>
            <a:ext cx="65532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6945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n-GB" dirty="0"/>
              <a:t>Film and picture library</a:t>
            </a:r>
          </a:p>
        </p:txBody>
      </p:sp>
      <p:pic>
        <p:nvPicPr>
          <p:cNvPr id="17411" name="Picture 3"/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905000"/>
            <a:ext cx="8304213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4502330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/>
            </a:r>
            <a:br>
              <a:rPr lang="en-GB" dirty="0" smtClean="0"/>
            </a:br>
            <a:r>
              <a:rPr lang="en-GB" dirty="0" smtClean="0"/>
              <a:t>Advantages</a:t>
            </a:r>
            <a:r>
              <a:rPr lang="en-GB" dirty="0"/>
              <a:t/>
            </a:r>
            <a:br>
              <a:rPr lang="en-GB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90000"/>
              </a:lnSpc>
              <a:buFont typeface="Arial" pitchFamily="34" charset="0"/>
              <a:buChar char="•"/>
            </a:pPr>
            <a:r>
              <a:rPr lang="en-GB" dirty="0" smtClean="0"/>
              <a:t>Distribution </a:t>
            </a:r>
            <a:r>
              <a:rPr lang="en-GB" dirty="0"/>
              <a:t>of data is </a:t>
            </a:r>
            <a:r>
              <a:rPr lang="en-GB" dirty="0" smtClean="0"/>
              <a:t>straightforward</a:t>
            </a:r>
          </a:p>
          <a:p>
            <a:pPr lvl="1">
              <a:lnSpc>
                <a:spcPct val="90000"/>
              </a:lnSpc>
              <a:buFont typeface="Arial" pitchFamily="34" charset="0"/>
              <a:buChar char="•"/>
            </a:pPr>
            <a:r>
              <a:rPr lang="en-GB" dirty="0" smtClean="0"/>
              <a:t>Makes </a:t>
            </a:r>
            <a:r>
              <a:rPr lang="en-GB" dirty="0"/>
              <a:t>effective use of networked systems. May require cheaper hardware</a:t>
            </a:r>
          </a:p>
          <a:p>
            <a:pPr lvl="1">
              <a:lnSpc>
                <a:spcPct val="90000"/>
              </a:lnSpc>
              <a:buFont typeface="Arial" pitchFamily="34" charset="0"/>
              <a:buChar char="•"/>
            </a:pPr>
            <a:r>
              <a:rPr lang="en-GB" dirty="0"/>
              <a:t>Easy to add new servers or upgrade existing servers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323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>
            <a:normAutofit fontScale="90000"/>
          </a:bodyPr>
          <a:lstStyle/>
          <a:p>
            <a:r>
              <a:rPr lang="en-GB" dirty="0" smtClean="0"/>
              <a:t/>
            </a:r>
            <a:br>
              <a:rPr lang="en-GB" dirty="0" smtClean="0"/>
            </a:br>
            <a:r>
              <a:rPr lang="en-GB" dirty="0" smtClean="0"/>
              <a:t>Disadvantages</a:t>
            </a:r>
            <a:r>
              <a:rPr lang="en-GB" dirty="0"/>
              <a:t/>
            </a:r>
            <a:br>
              <a:rPr lang="en-GB" dirty="0"/>
            </a:br>
            <a:endParaRPr lang="en-GB" dirty="0"/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noFill/>
          <a:ln/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  <a:buFont typeface="Arial" pitchFamily="34" charset="0"/>
              <a:buChar char="•"/>
            </a:pPr>
            <a:r>
              <a:rPr lang="en-GB" dirty="0" smtClean="0"/>
              <a:t>No </a:t>
            </a:r>
            <a:r>
              <a:rPr lang="en-GB" dirty="0"/>
              <a:t>shared data model so sub-systems use different data organisation. data interchange may be inefficient</a:t>
            </a:r>
          </a:p>
          <a:p>
            <a:pPr lvl="1">
              <a:lnSpc>
                <a:spcPct val="90000"/>
              </a:lnSpc>
              <a:buFont typeface="Arial" pitchFamily="34" charset="0"/>
              <a:buChar char="•"/>
            </a:pPr>
            <a:r>
              <a:rPr lang="en-GB" dirty="0"/>
              <a:t>Redundant management in each server</a:t>
            </a:r>
          </a:p>
          <a:p>
            <a:pPr lvl="1">
              <a:lnSpc>
                <a:spcPct val="90000"/>
              </a:lnSpc>
              <a:buFont typeface="Arial" pitchFamily="34" charset="0"/>
              <a:buChar char="•"/>
            </a:pPr>
            <a:r>
              <a:rPr lang="en-GB" dirty="0"/>
              <a:t>No central register of names and services - it may be hard to find out what servers and services are available</a:t>
            </a:r>
          </a:p>
        </p:txBody>
      </p:sp>
    </p:spTree>
    <p:extLst>
      <p:ext uri="{BB962C8B-B14F-4D97-AF65-F5344CB8AC3E}">
        <p14:creationId xmlns:p14="http://schemas.microsoft.com/office/powerpoint/2010/main" val="396422437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>
            <a:normAutofit fontScale="90000"/>
          </a:bodyPr>
          <a:lstStyle/>
          <a:p>
            <a:r>
              <a:rPr lang="en-GB" dirty="0" smtClean="0"/>
              <a:t>The Layered Model/Abstract </a:t>
            </a:r>
            <a:r>
              <a:rPr lang="en-GB" dirty="0"/>
              <a:t>machine model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76400"/>
            <a:ext cx="8305800" cy="4648200"/>
          </a:xfrm>
          <a:noFill/>
          <a:ln/>
        </p:spPr>
        <p:txBody>
          <a:bodyPr>
            <a:normAutofit fontScale="92500"/>
          </a:bodyPr>
          <a:lstStyle/>
          <a:p>
            <a:pPr>
              <a:buFont typeface="Zapf Dingbats" charset="2"/>
              <a:buNone/>
            </a:pPr>
            <a:r>
              <a:rPr lang="en-GB" dirty="0"/>
              <a:t>- Used to model the interfacing of sub-systems</a:t>
            </a:r>
          </a:p>
          <a:p>
            <a:r>
              <a:rPr lang="en-GB" dirty="0"/>
              <a:t>Organises the system into a set of layers (or abstract machines) each of which provide a set of services</a:t>
            </a:r>
          </a:p>
          <a:p>
            <a:r>
              <a:rPr lang="en-GB" dirty="0"/>
              <a:t>Supports the incremental development of sub-systems in different layers. When a layer interface changes, only the adjacent layer is affected</a:t>
            </a:r>
          </a:p>
          <a:p>
            <a:r>
              <a:rPr lang="en-GB" dirty="0"/>
              <a:t>However, often difficult to structure systems in this way</a:t>
            </a:r>
          </a:p>
        </p:txBody>
      </p:sp>
    </p:spTree>
    <p:extLst>
      <p:ext uri="{BB962C8B-B14F-4D97-AF65-F5344CB8AC3E}">
        <p14:creationId xmlns:p14="http://schemas.microsoft.com/office/powerpoint/2010/main" val="53569173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>
          <a:noFill/>
          <a:ln/>
        </p:spPr>
        <p:txBody>
          <a:bodyPr/>
          <a:lstStyle/>
          <a:p>
            <a:r>
              <a:rPr lang="en-GB"/>
              <a:t>ISO/OSI network model</a:t>
            </a:r>
          </a:p>
        </p:txBody>
      </p:sp>
      <p:pic>
        <p:nvPicPr>
          <p:cNvPr id="52227" name="Picture 3"/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600200"/>
            <a:ext cx="7175500" cy="472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1600200" y="1752600"/>
            <a:ext cx="1263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GB" sz="1800">
                <a:latin typeface="Times" pitchFamily="18" charset="0"/>
              </a:rPr>
              <a:t>Application</a:t>
            </a:r>
            <a:endParaRPr lang="en-GB" sz="2400">
              <a:latin typeface="Times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73971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Advantages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layered architecture supports incremental development of system.</a:t>
            </a:r>
          </a:p>
          <a:p>
            <a:r>
              <a:rPr lang="en-US" dirty="0" smtClean="0"/>
              <a:t>Architecture is changeable and portable.</a:t>
            </a:r>
          </a:p>
          <a:p>
            <a:r>
              <a:rPr lang="en-US" dirty="0" smtClean="0"/>
              <a:t>Only the adjacent layer is affected, when it is necessary to upgrade.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6063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Disadvantages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Structuring is </a:t>
            </a:r>
            <a:r>
              <a:rPr lang="en-US" dirty="0" smtClean="0"/>
              <a:t>difficult.</a:t>
            </a:r>
          </a:p>
          <a:p>
            <a:r>
              <a:rPr lang="en-US" dirty="0" smtClean="0"/>
              <a:t>Services required by a user of the top level may punch through the adjacent layers to get access to services that are provided several layers beneath it. </a:t>
            </a:r>
          </a:p>
          <a:p>
            <a:r>
              <a:rPr lang="en-US" dirty="0" smtClean="0"/>
              <a:t>Performance problem because multiple levels of command interpretations that are required.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95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3.3 Modular Decomposition styles</a:t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err="1" smtClean="0"/>
              <a:t>A.k.a</a:t>
            </a:r>
            <a:r>
              <a:rPr lang="en-GB" dirty="0" smtClean="0"/>
              <a:t> High Level Design</a:t>
            </a:r>
          </a:p>
          <a:p>
            <a:r>
              <a:rPr lang="en-GB" dirty="0" smtClean="0"/>
              <a:t>Sub-systems are decomposed into lower-level elements.</a:t>
            </a:r>
          </a:p>
          <a:p>
            <a:r>
              <a:rPr lang="en-GB" dirty="0" smtClean="0"/>
              <a:t>Two models are considered:</a:t>
            </a:r>
          </a:p>
          <a:p>
            <a:pPr lvl="1"/>
            <a:r>
              <a:rPr lang="en-GB" sz="2400" dirty="0" smtClean="0"/>
              <a:t>An </a:t>
            </a:r>
            <a:r>
              <a:rPr lang="en-GB" sz="2400" b="1" u="sng" dirty="0" smtClean="0"/>
              <a:t>object model</a:t>
            </a:r>
            <a:r>
              <a:rPr lang="en-GB" sz="2400" dirty="0" smtClean="0"/>
              <a:t> where the system is decomposed into interacting objects ( Object oriented design/decomposition)</a:t>
            </a:r>
            <a:endParaRPr lang="en-GB" sz="1800" b="1" dirty="0" smtClean="0">
              <a:solidFill>
                <a:schemeClr val="accent1"/>
              </a:solidFill>
            </a:endParaRPr>
          </a:p>
          <a:p>
            <a:pPr lvl="1"/>
            <a:r>
              <a:rPr lang="en-GB" sz="2400" dirty="0" smtClean="0"/>
              <a:t>A </a:t>
            </a:r>
            <a:r>
              <a:rPr lang="en-GB" sz="2400" b="1" u="sng" dirty="0" smtClean="0"/>
              <a:t>data-flow model</a:t>
            </a:r>
            <a:r>
              <a:rPr lang="en-GB" sz="2400" dirty="0" smtClean="0"/>
              <a:t> where the system is decomposed into functional modules which transform inputs into outputs.( Function Oriented design/ Decomposition)</a:t>
            </a:r>
            <a:endParaRPr lang="en-GB" sz="1800" b="1" dirty="0" smtClean="0">
              <a:solidFill>
                <a:schemeClr val="accent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449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Structure the system into a set of </a:t>
            </a:r>
            <a:r>
              <a:rPr lang="en-GB" u="sng" dirty="0" smtClean="0"/>
              <a:t>loosely coupled objects</a:t>
            </a:r>
            <a:r>
              <a:rPr lang="en-GB" dirty="0" smtClean="0"/>
              <a:t> with well-defined interfaces. [</a:t>
            </a:r>
            <a:r>
              <a:rPr lang="en-US" dirty="0" smtClean="0"/>
              <a:t>loosely </a:t>
            </a:r>
            <a:r>
              <a:rPr lang="en-US" dirty="0"/>
              <a:t>coupled system is one in which each of its components has, or makes use of, little or no knowledge of the definitions of other separate components</a:t>
            </a:r>
            <a:r>
              <a:rPr lang="en-US" dirty="0" smtClean="0"/>
              <a:t>.]</a:t>
            </a:r>
            <a:endParaRPr lang="en-GB" dirty="0" smtClean="0"/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Object-oriented decomposition is concerned with identifying </a:t>
            </a:r>
            <a:r>
              <a:rPr lang="en-GB" u="sng" dirty="0" smtClean="0"/>
              <a:t>object classes</a:t>
            </a:r>
            <a:r>
              <a:rPr lang="en-GB" dirty="0" smtClean="0"/>
              <a:t>, their </a:t>
            </a:r>
            <a:r>
              <a:rPr lang="en-GB" u="sng" dirty="0" smtClean="0"/>
              <a:t>attributes</a:t>
            </a:r>
            <a:r>
              <a:rPr lang="en-GB" dirty="0" smtClean="0"/>
              <a:t> and </a:t>
            </a:r>
            <a:r>
              <a:rPr lang="en-GB" u="sng" dirty="0" smtClean="0"/>
              <a:t>operations</a:t>
            </a:r>
            <a:r>
              <a:rPr lang="en-GB" dirty="0" smtClean="0"/>
              <a:t>.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When implemented, </a:t>
            </a:r>
            <a:r>
              <a:rPr lang="en-GB" u="sng" dirty="0" smtClean="0"/>
              <a:t>objects are created from these classes</a:t>
            </a:r>
            <a:r>
              <a:rPr lang="en-GB" dirty="0" smtClean="0"/>
              <a:t> and some </a:t>
            </a:r>
            <a:r>
              <a:rPr lang="en-GB" u="sng" dirty="0" smtClean="0"/>
              <a:t>control model</a:t>
            </a:r>
            <a:r>
              <a:rPr lang="en-GB" dirty="0" smtClean="0"/>
              <a:t> is used to coordinate object operations.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224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Example: </a:t>
            </a:r>
            <a:r>
              <a:rPr lang="en-GB" dirty="0" smtClean="0"/>
              <a:t>Invoice processing system</a:t>
            </a:r>
            <a:endParaRPr lang="en-US" dirty="0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828800"/>
            <a:ext cx="79248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17657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Flow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GB" dirty="0" smtClean="0"/>
              <a:t>Functional transformations process inputs to produce outputs.</a:t>
            </a:r>
          </a:p>
          <a:p>
            <a:pPr algn="just"/>
            <a:r>
              <a:rPr lang="en-GB" dirty="0" smtClean="0"/>
              <a:t>Sometimes referred to as a </a:t>
            </a:r>
            <a:r>
              <a:rPr lang="en-GB" i="1" u="sng" dirty="0" smtClean="0"/>
              <a:t>pipe and filter</a:t>
            </a:r>
            <a:r>
              <a:rPr lang="en-GB" u="sng" dirty="0" smtClean="0"/>
              <a:t> </a:t>
            </a:r>
            <a:r>
              <a:rPr lang="en-GB" i="1" u="sng" dirty="0" smtClean="0"/>
              <a:t>model</a:t>
            </a:r>
            <a:r>
              <a:rPr lang="en-GB" dirty="0" smtClean="0"/>
              <a:t>.</a:t>
            </a:r>
          </a:p>
          <a:p>
            <a:pPr algn="just"/>
            <a:r>
              <a:rPr lang="en-GB" dirty="0" smtClean="0"/>
              <a:t>When transformations are sequential, this is a </a:t>
            </a:r>
            <a:r>
              <a:rPr lang="en-GB" u="sng" dirty="0" smtClean="0"/>
              <a:t>batch sequential model</a:t>
            </a:r>
            <a:r>
              <a:rPr lang="en-GB" dirty="0" smtClean="0"/>
              <a:t> which is extensively used in data processing systems.</a:t>
            </a:r>
          </a:p>
          <a:p>
            <a:pPr algn="just"/>
            <a:r>
              <a:rPr lang="en-GB" u="sng" dirty="0" smtClean="0"/>
              <a:t>Not really suitable for interactive systems</a:t>
            </a:r>
            <a:r>
              <a:rPr lang="en-GB" dirty="0" smtClean="0"/>
              <a:t> </a:t>
            </a:r>
            <a:r>
              <a:rPr lang="en-GB" sz="2000" b="1" dirty="0" smtClean="0"/>
              <a:t>(focus on input data streams vs. events)</a:t>
            </a:r>
          </a:p>
          <a:p>
            <a:pPr algn="just"/>
            <a:endParaRPr lang="en-GB" dirty="0" smtClean="0"/>
          </a:p>
          <a:p>
            <a:pPr algn="just"/>
            <a:endParaRPr lang="en-GB" dirty="0" smtClean="0"/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5801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Example: Invoice processing system</a:t>
            </a:r>
            <a:endParaRPr lang="en-US" dirty="0"/>
          </a:p>
        </p:txBody>
      </p:sp>
      <p:pic>
        <p:nvPicPr>
          <p:cNvPr id="4" name="Picture 3"/>
          <p:cNvPicPr>
            <a:picLocks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1" y="2362200"/>
            <a:ext cx="8382000" cy="22860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959400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3.4 Control Styles/Models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GB" u="sng" dirty="0" smtClean="0"/>
              <a:t>Concerned with the control flow</a:t>
            </a:r>
            <a:r>
              <a:rPr lang="en-GB" dirty="0" smtClean="0"/>
              <a:t> between sub-systems.  Distinct from the system structure model.</a:t>
            </a:r>
          </a:p>
          <a:p>
            <a:pPr algn="just"/>
            <a:r>
              <a:rPr lang="en-GB" dirty="0" smtClean="0"/>
              <a:t>Two general approaches:</a:t>
            </a:r>
          </a:p>
          <a:p>
            <a:pPr lvl="1" algn="just"/>
            <a:r>
              <a:rPr lang="en-GB" sz="2400" u="sng" dirty="0" smtClean="0"/>
              <a:t>Centralized control</a:t>
            </a:r>
            <a:r>
              <a:rPr lang="en-GB" sz="2400" dirty="0" smtClean="0"/>
              <a:t> –</a:t>
            </a:r>
            <a:r>
              <a:rPr lang="en-GB" dirty="0" smtClean="0"/>
              <a:t> </a:t>
            </a:r>
            <a:r>
              <a:rPr lang="en-GB" b="1" i="1" dirty="0" smtClean="0"/>
              <a:t>one sub-system has overall responsibility for control</a:t>
            </a:r>
            <a:r>
              <a:rPr lang="en-GB" dirty="0" smtClean="0"/>
              <a:t> and starts and stops other sub-systems.</a:t>
            </a:r>
          </a:p>
          <a:p>
            <a:pPr lvl="1" algn="just"/>
            <a:r>
              <a:rPr lang="en-GB" sz="2400" u="sng" dirty="0" smtClean="0"/>
              <a:t>Event-based control</a:t>
            </a:r>
            <a:r>
              <a:rPr lang="en-GB" sz="2400" dirty="0" smtClean="0"/>
              <a:t> –</a:t>
            </a:r>
            <a:r>
              <a:rPr lang="en-GB" dirty="0" smtClean="0"/>
              <a:t> </a:t>
            </a:r>
            <a:r>
              <a:rPr lang="en-GB" b="1" i="1" dirty="0" smtClean="0"/>
              <a:t>each sub-system can respond to externally generated events</a:t>
            </a:r>
            <a:r>
              <a:rPr lang="en-GB" dirty="0" smtClean="0"/>
              <a:t> from other sub-systems, or from the system’s environment.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4807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Centralized Control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33400" indent="-533400" algn="just">
              <a:lnSpc>
                <a:spcPct val="90000"/>
              </a:lnSpc>
              <a:spcAft>
                <a:spcPct val="30000"/>
              </a:spcAft>
              <a:buSzTx/>
              <a:buFont typeface="Zapf Dingbats" charset="2"/>
              <a:buAutoNum type="arabicPeriod"/>
            </a:pPr>
            <a:r>
              <a:rPr lang="en-GB" b="1" u="sng" dirty="0" smtClean="0"/>
              <a:t>Call-return model</a:t>
            </a:r>
            <a:r>
              <a:rPr lang="en-GB" dirty="0" smtClean="0"/>
              <a:t> – top-down subroutine model where control starts at the top of a subroutine hierarchy and moves downwards. </a:t>
            </a:r>
            <a:r>
              <a:rPr lang="en-GB" u="sng" dirty="0" smtClean="0"/>
              <a:t>Applicable to sequential systems only</a:t>
            </a:r>
            <a:r>
              <a:rPr lang="en-GB" dirty="0" smtClean="0"/>
              <a:t>.</a:t>
            </a:r>
          </a:p>
          <a:p>
            <a:pPr marL="533400" indent="-533400" algn="just">
              <a:lnSpc>
                <a:spcPct val="90000"/>
              </a:lnSpc>
              <a:spcAft>
                <a:spcPct val="30000"/>
              </a:spcAft>
              <a:buSzTx/>
              <a:buFont typeface="Zapf Dingbats" charset="2"/>
              <a:buAutoNum type="arabicPeriod"/>
            </a:pPr>
            <a:r>
              <a:rPr lang="en-GB" b="1" u="sng" dirty="0" smtClean="0"/>
              <a:t>Manager model</a:t>
            </a:r>
            <a:r>
              <a:rPr lang="en-GB" dirty="0" smtClean="0"/>
              <a:t> – </a:t>
            </a:r>
            <a:r>
              <a:rPr lang="en-GB" u="sng" dirty="0" smtClean="0"/>
              <a:t>applicable to concurrent systems</a:t>
            </a:r>
            <a:r>
              <a:rPr lang="en-GB" dirty="0" smtClean="0"/>
              <a:t>.  One system component controls the stopping, starting and coordination of other system processes. Also applicable to sequential systems where it is usually implemented as a </a:t>
            </a:r>
            <a:r>
              <a:rPr lang="en-GB" b="1" dirty="0" smtClean="0"/>
              <a:t>case statement</a:t>
            </a:r>
            <a:r>
              <a:rPr lang="en-GB" dirty="0" smtClean="0"/>
              <a:t> within a </a:t>
            </a:r>
            <a:r>
              <a:rPr lang="en-GB" i="1" dirty="0" smtClean="0"/>
              <a:t>management routine.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7880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GB" smtClean="0"/>
              <a:t>Call-return model</a:t>
            </a:r>
          </a:p>
        </p:txBody>
      </p:sp>
      <p:pic>
        <p:nvPicPr>
          <p:cNvPr id="34819" name="Picture 3"/>
          <p:cNvPicPr>
            <a:picLocks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8300" y="1765300"/>
            <a:ext cx="8437563" cy="36449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  <p:sp>
        <p:nvSpPr>
          <p:cNvPr id="34820" name="Line 4"/>
          <p:cNvSpPr>
            <a:spLocks noChangeShapeType="1"/>
          </p:cNvSpPr>
          <p:nvPr/>
        </p:nvSpPr>
        <p:spPr bwMode="auto">
          <a:xfrm flipH="1">
            <a:off x="3048000" y="2514600"/>
            <a:ext cx="457200" cy="30480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en-US"/>
          </a:p>
        </p:txBody>
      </p:sp>
      <p:sp>
        <p:nvSpPr>
          <p:cNvPr id="34821" name="Text Box 5"/>
          <p:cNvSpPr txBox="1">
            <a:spLocks noChangeArrowheads="1"/>
          </p:cNvSpPr>
          <p:nvPr/>
        </p:nvSpPr>
        <p:spPr bwMode="auto">
          <a:xfrm>
            <a:off x="2743200" y="2362200"/>
            <a:ext cx="609600" cy="36671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 </a:t>
            </a:r>
            <a:r>
              <a:rPr lang="en-US">
                <a:solidFill>
                  <a:schemeClr val="accent1"/>
                </a:solidFill>
              </a:rPr>
              <a:t>call</a:t>
            </a:r>
          </a:p>
        </p:txBody>
      </p:sp>
      <p:sp>
        <p:nvSpPr>
          <p:cNvPr id="34822" name="Line 6"/>
          <p:cNvSpPr>
            <a:spLocks noChangeShapeType="1"/>
          </p:cNvSpPr>
          <p:nvPr/>
        </p:nvSpPr>
        <p:spPr bwMode="auto">
          <a:xfrm flipV="1">
            <a:off x="3276600" y="2819400"/>
            <a:ext cx="457200" cy="30480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en-US"/>
          </a:p>
        </p:txBody>
      </p:sp>
      <p:sp>
        <p:nvSpPr>
          <p:cNvPr id="34823" name="Text Box 7"/>
          <p:cNvSpPr txBox="1">
            <a:spLocks noChangeArrowheads="1"/>
          </p:cNvSpPr>
          <p:nvPr/>
        </p:nvSpPr>
        <p:spPr bwMode="auto">
          <a:xfrm>
            <a:off x="3352800" y="2895600"/>
            <a:ext cx="838200" cy="36671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>
                <a:solidFill>
                  <a:schemeClr val="accent1"/>
                </a:solidFill>
              </a:rPr>
              <a:t>return</a:t>
            </a:r>
          </a:p>
        </p:txBody>
      </p:sp>
      <p:sp>
        <p:nvSpPr>
          <p:cNvPr id="34824" name="Line 8"/>
          <p:cNvSpPr>
            <a:spLocks noChangeShapeType="1"/>
          </p:cNvSpPr>
          <p:nvPr/>
        </p:nvSpPr>
        <p:spPr bwMode="auto">
          <a:xfrm flipH="1">
            <a:off x="1295400" y="4038600"/>
            <a:ext cx="304800" cy="38100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en-US"/>
          </a:p>
        </p:txBody>
      </p:sp>
      <p:sp>
        <p:nvSpPr>
          <p:cNvPr id="34825" name="Line 9"/>
          <p:cNvSpPr>
            <a:spLocks noChangeShapeType="1"/>
          </p:cNvSpPr>
          <p:nvPr/>
        </p:nvSpPr>
        <p:spPr bwMode="auto">
          <a:xfrm flipV="1">
            <a:off x="1828800" y="4038600"/>
            <a:ext cx="304800" cy="457200"/>
          </a:xfrm>
          <a:prstGeom prst="line">
            <a:avLst/>
          </a:prstGeom>
          <a:noFill/>
          <a:ln w="28575">
            <a:solidFill>
              <a:schemeClr val="accent1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31551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GB" sz="3600" smtClean="0"/>
              <a:t>Manager model:  real-time system control</a:t>
            </a:r>
          </a:p>
        </p:txBody>
      </p:sp>
      <p:pic>
        <p:nvPicPr>
          <p:cNvPr id="35843" name="Picture 3"/>
          <p:cNvPicPr>
            <a:picLocks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6300" y="1689100"/>
            <a:ext cx="6896100" cy="461645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037932247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Event Based 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342900" lvl="1" indent="-342900" algn="just">
              <a:buFont typeface="Arial" pitchFamily="34" charset="0"/>
              <a:buChar char="•"/>
            </a:pPr>
            <a:r>
              <a:rPr lang="en-GB" b="1" i="1" dirty="0" smtClean="0"/>
              <a:t>Each sub-system can respond to externally generated events</a:t>
            </a:r>
            <a:r>
              <a:rPr lang="en-GB" dirty="0" smtClean="0"/>
              <a:t> from other sub-systems, or from the system’s environment.</a:t>
            </a:r>
          </a:p>
          <a:p>
            <a:pPr marL="533400" indent="-533400" algn="just">
              <a:buSzTx/>
              <a:buFont typeface="Zapf Dingbats" charset="2"/>
              <a:buAutoNum type="arabicPeriod"/>
            </a:pPr>
            <a:r>
              <a:rPr lang="en-GB" b="1" u="sng" dirty="0" smtClean="0"/>
              <a:t>Broadcast model</a:t>
            </a:r>
            <a:r>
              <a:rPr lang="en-GB" dirty="0" smtClean="0"/>
              <a:t> – an event is broadcast to </a:t>
            </a:r>
            <a:r>
              <a:rPr lang="en-GB" b="1" i="1" dirty="0" smtClean="0"/>
              <a:t>all</a:t>
            </a:r>
            <a:r>
              <a:rPr lang="en-GB" dirty="0" smtClean="0"/>
              <a:t> sub-systems; any sub-system which can  handle the event may do so.</a:t>
            </a:r>
          </a:p>
          <a:p>
            <a:pPr marL="533400" indent="-533400" algn="just">
              <a:buSzTx/>
              <a:buFont typeface="Zapf Dingbats" charset="2"/>
              <a:buAutoNum type="arabicPeriod"/>
            </a:pPr>
            <a:r>
              <a:rPr lang="en-GB" b="1" u="sng" dirty="0" smtClean="0"/>
              <a:t>Interrupt-driven model</a:t>
            </a:r>
            <a:r>
              <a:rPr lang="en-GB" dirty="0" smtClean="0"/>
              <a:t> – used in real-time systems where interrupts are detected by an </a:t>
            </a:r>
            <a:r>
              <a:rPr lang="en-GB" i="1" dirty="0" smtClean="0"/>
              <a:t>interrupt handler</a:t>
            </a:r>
            <a:r>
              <a:rPr lang="en-GB" dirty="0" smtClean="0"/>
              <a:t> and passed to some other component for processing.</a:t>
            </a:r>
          </a:p>
          <a:p>
            <a:pPr marL="533400" indent="-533400" algn="just">
              <a:buFont typeface="Zapf Dingbats" charset="2"/>
              <a:buNone/>
            </a:pPr>
            <a:r>
              <a:rPr lang="en-GB" dirty="0" smtClean="0"/>
              <a:t>	</a:t>
            </a:r>
            <a:endParaRPr lang="en-GB" sz="2400" dirty="0" smtClean="0"/>
          </a:p>
          <a:p>
            <a:pPr algn="just"/>
            <a:endParaRPr lang="en-US" dirty="0" smtClean="0"/>
          </a:p>
          <a:p>
            <a:pPr marL="342900" lvl="1" indent="-342900" algn="just">
              <a:buFont typeface="Arial" pitchFamily="34" charset="0"/>
              <a:buChar char="•"/>
            </a:pPr>
            <a:endParaRPr lang="en-GB" dirty="0" smtClean="0"/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8246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Broadcast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u="sng" dirty="0" smtClean="0"/>
              <a:t>Effective in integrating sub-systems executing on different computers in a network</a:t>
            </a:r>
            <a:r>
              <a:rPr lang="en-GB" dirty="0" smtClean="0"/>
              <a:t>.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Control policy is </a:t>
            </a:r>
            <a:r>
              <a:rPr lang="en-GB" u="sng" dirty="0" smtClean="0"/>
              <a:t>NOT</a:t>
            </a:r>
            <a:r>
              <a:rPr lang="en-GB" dirty="0" smtClean="0"/>
              <a:t> embedded in the message handler.  </a:t>
            </a:r>
            <a:r>
              <a:rPr lang="en-GB" sz="2400" b="1" dirty="0" smtClean="0"/>
              <a:t>(as in the Manager model)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u="sng" dirty="0" smtClean="0"/>
              <a:t>Sub-systems register an interest in specific events</a:t>
            </a:r>
            <a:r>
              <a:rPr lang="en-GB" dirty="0" smtClean="0"/>
              <a:t> and the event handler ensures that these events are sent to them.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Registration of interests supports </a:t>
            </a:r>
            <a:r>
              <a:rPr lang="en-GB" i="1" dirty="0" smtClean="0"/>
              <a:t>selective broadcasting.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6180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Broadcast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90000"/>
              </a:lnSpc>
              <a:spcAft>
                <a:spcPct val="35000"/>
              </a:spcAft>
            </a:pPr>
            <a:r>
              <a:rPr lang="en-GB" u="sng" dirty="0" smtClean="0"/>
              <a:t>Evolution is relatively easy</a:t>
            </a:r>
            <a:r>
              <a:rPr lang="en-GB" dirty="0" smtClean="0"/>
              <a:t> since a new sub-system can be integrated by registering its events with the event handler.</a:t>
            </a:r>
          </a:p>
          <a:p>
            <a:pPr algn="just">
              <a:lnSpc>
                <a:spcPct val="90000"/>
              </a:lnSpc>
              <a:spcAft>
                <a:spcPct val="35000"/>
              </a:spcAft>
            </a:pPr>
            <a:r>
              <a:rPr lang="en-GB" dirty="0" smtClean="0"/>
              <a:t>However, </a:t>
            </a:r>
            <a:r>
              <a:rPr lang="en-GB" u="sng" dirty="0" smtClean="0"/>
              <a:t>sub-systems don’t know if or when an event will be handled by some other sub-system</a:t>
            </a:r>
            <a:r>
              <a:rPr lang="en-GB" dirty="0" smtClean="0"/>
              <a:t>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549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Selective Broadcasting</a:t>
            </a:r>
            <a:endParaRPr lang="en-US" dirty="0"/>
          </a:p>
        </p:txBody>
      </p:sp>
      <p:pic>
        <p:nvPicPr>
          <p:cNvPr id="4" name="Picture 3"/>
          <p:cNvPicPr>
            <a:picLocks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400" y="2413000"/>
            <a:ext cx="8707438" cy="22352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1143000" y="5105400"/>
            <a:ext cx="6934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/>
              <a:t>Events broadcasted only to </a:t>
            </a:r>
            <a:r>
              <a:rPr lang="en-US" sz="2400" u="sng" dirty="0" smtClean="0"/>
              <a:t>registered</a:t>
            </a:r>
            <a:r>
              <a:rPr lang="en-US" sz="2400" dirty="0" smtClean="0"/>
              <a:t> sub-systems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400907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Interrupt driven 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 smtClean="0"/>
              <a:t>Used in </a:t>
            </a:r>
            <a:r>
              <a:rPr lang="en-GB" u="sng" dirty="0" smtClean="0"/>
              <a:t>real-time systems</a:t>
            </a:r>
            <a:r>
              <a:rPr lang="en-GB" dirty="0" smtClean="0"/>
              <a:t> where fast response to an event is essential.</a:t>
            </a:r>
          </a:p>
          <a:p>
            <a:pPr algn="just"/>
            <a:r>
              <a:rPr lang="en-GB" u="sng" dirty="0" smtClean="0"/>
              <a:t>A handler is defined for each type of interrupt.</a:t>
            </a:r>
          </a:p>
          <a:p>
            <a:pPr algn="just"/>
            <a:r>
              <a:rPr lang="en-GB" dirty="0" smtClean="0"/>
              <a:t>Each type is associated with a memory location and a </a:t>
            </a:r>
            <a:r>
              <a:rPr lang="en-GB" u="sng" dirty="0" smtClean="0"/>
              <a:t>hardware switch</a:t>
            </a:r>
            <a:r>
              <a:rPr lang="en-GB" dirty="0" smtClean="0"/>
              <a:t> causes transfer to its handler.</a:t>
            </a:r>
            <a:endParaRPr lang="en-GB" sz="2000" b="1" i="1" dirty="0" smtClean="0"/>
          </a:p>
          <a:p>
            <a:pPr algn="just"/>
            <a:r>
              <a:rPr lang="en-GB" dirty="0" smtClean="0"/>
              <a:t>Allows fast response but is complex to program and difficult to verify.</a:t>
            </a:r>
            <a:endParaRPr lang="en-GB" sz="2000" b="1" dirty="0" smtClean="0"/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6624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Interrupt driven Control</a:t>
            </a:r>
            <a:endParaRPr lang="en-US" dirty="0"/>
          </a:p>
        </p:txBody>
      </p:sp>
      <p:pic>
        <p:nvPicPr>
          <p:cNvPr id="4" name="Picture 3"/>
          <p:cNvPicPr>
            <a:picLocks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39800" y="1600200"/>
            <a:ext cx="7289800" cy="468788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3849047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3.5 Reference Architectures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33400" indent="-533400" algn="just"/>
            <a:r>
              <a:rPr lang="en-GB" sz="2400" dirty="0" smtClean="0"/>
              <a:t>Models which are </a:t>
            </a:r>
            <a:r>
              <a:rPr lang="en-GB" sz="2400" b="1" dirty="0" smtClean="0"/>
              <a:t>specific to some application domain</a:t>
            </a:r>
          </a:p>
          <a:p>
            <a:pPr marL="533400" indent="-533400" algn="just"/>
            <a:r>
              <a:rPr lang="en-GB" sz="2400" u="sng" dirty="0" smtClean="0"/>
              <a:t>Two types</a:t>
            </a:r>
            <a:r>
              <a:rPr lang="en-GB" sz="2400" dirty="0" smtClean="0"/>
              <a:t> of domain-specific models:</a:t>
            </a:r>
          </a:p>
          <a:p>
            <a:pPr lvl="1" algn="just">
              <a:buFont typeface="Wingdings" pitchFamily="2" charset="2"/>
              <a:buAutoNum type="arabicPeriod"/>
            </a:pPr>
            <a:r>
              <a:rPr lang="en-GB" b="1" i="1" dirty="0" smtClean="0"/>
              <a:t>Generic models</a:t>
            </a:r>
            <a:r>
              <a:rPr lang="en-GB" dirty="0" smtClean="0"/>
              <a:t> encapsulate the traditional, time-tested characteristics of real systems.</a:t>
            </a:r>
          </a:p>
          <a:p>
            <a:pPr lvl="1" algn="just">
              <a:buFont typeface="Wingdings" pitchFamily="2" charset="2"/>
              <a:buAutoNum type="arabicPeriod"/>
            </a:pPr>
            <a:r>
              <a:rPr lang="en-GB" b="1" i="1" dirty="0" smtClean="0"/>
              <a:t>Reference models</a:t>
            </a:r>
            <a:r>
              <a:rPr lang="en-GB" dirty="0" smtClean="0"/>
              <a:t> are more abstract and describe a larger class of systems.  They provide a means of comparing different systems in a domain.</a:t>
            </a:r>
          </a:p>
          <a:p>
            <a:pPr marL="533400" indent="-533400" algn="just"/>
            <a:r>
              <a:rPr lang="en-GB" sz="2400" dirty="0" smtClean="0"/>
              <a:t>Generic models are usually bottom-up models; Reference models are top-down models.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3331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Generic Models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sz="2400" dirty="0" smtClean="0"/>
              <a:t>The compiler model is a well-known example. </a:t>
            </a:r>
          </a:p>
          <a:p>
            <a:pPr algn="just"/>
            <a:r>
              <a:rPr lang="en-GB" sz="2400" dirty="0" smtClean="0"/>
              <a:t>Based on the thousands written, it is now generally agreed that the standard components of a compiler are:</a:t>
            </a:r>
          </a:p>
          <a:p>
            <a:pPr lvl="1" algn="just"/>
            <a:r>
              <a:rPr lang="en-GB" dirty="0" smtClean="0"/>
              <a:t>Lexical analyser</a:t>
            </a:r>
          </a:p>
          <a:p>
            <a:pPr lvl="1" algn="just"/>
            <a:r>
              <a:rPr lang="en-GB" dirty="0" smtClean="0"/>
              <a:t>Symbol table</a:t>
            </a:r>
          </a:p>
          <a:p>
            <a:pPr lvl="1" algn="just"/>
            <a:r>
              <a:rPr lang="en-GB" dirty="0" smtClean="0"/>
              <a:t>Syntax analyser</a:t>
            </a:r>
          </a:p>
          <a:p>
            <a:pPr lvl="1" algn="just"/>
            <a:r>
              <a:rPr lang="en-GB" dirty="0" smtClean="0"/>
              <a:t>Syntax tree</a:t>
            </a:r>
          </a:p>
          <a:p>
            <a:pPr lvl="1" algn="just"/>
            <a:r>
              <a:rPr lang="en-GB" dirty="0" smtClean="0"/>
              <a:t>Semantic analyser</a:t>
            </a:r>
          </a:p>
          <a:p>
            <a:pPr lvl="1" algn="just"/>
            <a:r>
              <a:rPr lang="en-GB" dirty="0" smtClean="0"/>
              <a:t>Code generator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583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Generic Model</a:t>
            </a:r>
            <a:endParaRPr lang="en-US" dirty="0"/>
          </a:p>
        </p:txBody>
      </p:sp>
      <p:pic>
        <p:nvPicPr>
          <p:cNvPr id="4" name="Picture 3"/>
          <p:cNvPicPr>
            <a:picLocks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5900" y="2082800"/>
            <a:ext cx="8610600" cy="29464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1219200" y="5334000"/>
            <a:ext cx="6400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400" dirty="0" smtClean="0"/>
              <a:t>Sequential function model (batch processing oriented)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4196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342900" lvl="1" indent="-342900" algn="just">
              <a:buFont typeface="Arial" pitchFamily="34" charset="0"/>
              <a:buChar char="•"/>
            </a:pPr>
            <a:r>
              <a:rPr lang="en-GB" b="1" i="1" dirty="0" smtClean="0"/>
              <a:t>Reference models</a:t>
            </a:r>
            <a:r>
              <a:rPr lang="en-GB" dirty="0" smtClean="0"/>
              <a:t> are more abstract and describe a larger class of systems.  They provide a means of comparing different systems in a domain.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Reference models are </a:t>
            </a:r>
            <a:r>
              <a:rPr lang="en-GB" u="sng" dirty="0" smtClean="0"/>
              <a:t>derived from a study of the application domain</a:t>
            </a:r>
            <a:r>
              <a:rPr lang="en-GB" dirty="0" smtClean="0"/>
              <a:t> rather than from existing systems.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May be used as a basis for system implementation, or to compare different systems.  </a:t>
            </a:r>
            <a:r>
              <a:rPr lang="en-GB" u="sng" dirty="0" smtClean="0"/>
              <a:t>It acts as a standard against which systems can be evaluated</a:t>
            </a:r>
            <a:r>
              <a:rPr lang="en-GB" dirty="0" smtClean="0"/>
              <a:t>.</a:t>
            </a:r>
          </a:p>
          <a:p>
            <a:pPr algn="just">
              <a:lnSpc>
                <a:spcPct val="85000"/>
              </a:lnSpc>
              <a:spcAft>
                <a:spcPct val="30000"/>
              </a:spcAft>
            </a:pPr>
            <a:r>
              <a:rPr lang="en-GB" dirty="0" smtClean="0"/>
              <a:t>The OSI (</a:t>
            </a:r>
            <a:r>
              <a:rPr lang="en-GB" u="sng" dirty="0" smtClean="0"/>
              <a:t>O</a:t>
            </a:r>
            <a:r>
              <a:rPr lang="en-GB" dirty="0" smtClean="0"/>
              <a:t>pen </a:t>
            </a:r>
            <a:r>
              <a:rPr lang="en-GB" u="sng" dirty="0" smtClean="0"/>
              <a:t>S</a:t>
            </a:r>
            <a:r>
              <a:rPr lang="en-GB" dirty="0" smtClean="0"/>
              <a:t>ystem </a:t>
            </a:r>
            <a:r>
              <a:rPr lang="en-GB" u="sng" dirty="0" smtClean="0"/>
              <a:t>I</a:t>
            </a:r>
            <a:r>
              <a:rPr lang="en-GB" dirty="0" smtClean="0"/>
              <a:t>nterconnection) model is a layered model for communication systems.</a:t>
            </a:r>
            <a:endParaRPr lang="en-GB" sz="2000" dirty="0" smtClean="0"/>
          </a:p>
          <a:p>
            <a:pPr marL="342900" lvl="1" indent="-342900" algn="just">
              <a:buFont typeface="Arial" pitchFamily="34" charset="0"/>
              <a:buChar char="•"/>
            </a:pPr>
            <a:endParaRPr lang="en-GB" dirty="0" smtClean="0"/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0865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Example: Reference Model</a:t>
            </a:r>
            <a:endParaRPr lang="en-US" dirty="0"/>
          </a:p>
        </p:txBody>
      </p:sp>
      <p:pic>
        <p:nvPicPr>
          <p:cNvPr id="4" name="Picture 3"/>
          <p:cNvPicPr>
            <a:picLocks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14400" y="1600200"/>
            <a:ext cx="7175500" cy="47244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9408823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3.6 Multiprocessor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GB" dirty="0" smtClean="0"/>
              <a:t>Virtually all large computer-based systems are now distributed systems.</a:t>
            </a:r>
          </a:p>
          <a:p>
            <a:pPr algn="just"/>
            <a:r>
              <a:rPr lang="en-GB" dirty="0" smtClean="0"/>
              <a:t>Information processing is distributed over several computers rather than confined to a single machine.</a:t>
            </a:r>
          </a:p>
          <a:p>
            <a:pPr algn="just"/>
            <a:r>
              <a:rPr lang="en-GB" dirty="0" smtClean="0"/>
              <a:t>Distributed software engineering is therefore very important for enterprise computing systems.</a:t>
            </a: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4434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GB" dirty="0" smtClean="0"/>
              <a:t>Personal systems that are not distributed and that are designed to run on a personal computer or workstation. </a:t>
            </a:r>
          </a:p>
          <a:p>
            <a:pPr algn="just">
              <a:spcAft>
                <a:spcPts val="600"/>
              </a:spcAft>
            </a:pPr>
            <a:r>
              <a:rPr lang="en-GB" dirty="0" smtClean="0"/>
              <a:t>Embedded systems that run on a single processor or on an integrated group of processors. 	</a:t>
            </a:r>
          </a:p>
          <a:p>
            <a:pPr algn="just"/>
            <a:r>
              <a:rPr lang="en-GB" dirty="0" smtClean="0"/>
              <a:t>Distributed systems where the system software runs on a loosely integrated group of cooperating processors linked by a network.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8496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System Characteristics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90000"/>
              </a:lnSpc>
            </a:pPr>
            <a:r>
              <a:rPr lang="en-GB" sz="2400" dirty="0" smtClean="0"/>
              <a:t>Resource sharing-Sharing of hardware and software resources.</a:t>
            </a:r>
          </a:p>
          <a:p>
            <a:pPr algn="just">
              <a:lnSpc>
                <a:spcPct val="90000"/>
              </a:lnSpc>
            </a:pPr>
            <a:r>
              <a:rPr lang="en-GB" sz="2400" dirty="0" smtClean="0"/>
              <a:t>Openness-Use of equipment and software from different vendors.</a:t>
            </a:r>
          </a:p>
          <a:p>
            <a:pPr algn="just">
              <a:lnSpc>
                <a:spcPct val="90000"/>
              </a:lnSpc>
            </a:pPr>
            <a:r>
              <a:rPr lang="en-GB" sz="2400" dirty="0" smtClean="0"/>
              <a:t>Concurrency-Concurrent processing to enhance performance.</a:t>
            </a:r>
          </a:p>
          <a:p>
            <a:pPr algn="just">
              <a:lnSpc>
                <a:spcPct val="90000"/>
              </a:lnSpc>
            </a:pPr>
            <a:r>
              <a:rPr lang="en-GB" sz="2400" dirty="0" smtClean="0"/>
              <a:t>Scalability-Increased throughput by adding new resources.</a:t>
            </a:r>
          </a:p>
          <a:p>
            <a:pPr algn="just">
              <a:lnSpc>
                <a:spcPct val="90000"/>
              </a:lnSpc>
            </a:pPr>
            <a:r>
              <a:rPr lang="en-GB" sz="2400" dirty="0" smtClean="0"/>
              <a:t>Fault tolerance-The ability to continue in operation after a fault has occurred.</a:t>
            </a:r>
          </a:p>
          <a:p>
            <a:pPr algn="just"/>
            <a:r>
              <a:rPr lang="en-US" sz="2400" dirty="0" smtClean="0"/>
              <a:t>Reliability-Ability to achieve performance, security, mobility, </a:t>
            </a:r>
            <a:r>
              <a:rPr lang="en-US" sz="2400" dirty="0" err="1" smtClean="0"/>
              <a:t>compatibility,etc</a:t>
            </a:r>
            <a:r>
              <a:rPr lang="en-US" sz="2400" dirty="0" smtClean="0"/>
              <a:t>.</a:t>
            </a:r>
          </a:p>
          <a:p>
            <a:pPr algn="just"/>
            <a:r>
              <a:rPr lang="en-US" sz="2400" dirty="0" smtClean="0"/>
              <a:t>Transparency-migration, access, location, etc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463695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Distributed system disadvantages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sz="2400" dirty="0" smtClean="0"/>
              <a:t>Complexity-Typically, distributed systems are more complex than centralised systems.</a:t>
            </a:r>
          </a:p>
          <a:p>
            <a:pPr algn="just"/>
            <a:r>
              <a:rPr lang="en-GB" sz="2400" dirty="0" smtClean="0"/>
              <a:t>Security-More susceptible to external attack.</a:t>
            </a:r>
          </a:p>
          <a:p>
            <a:pPr algn="just"/>
            <a:r>
              <a:rPr lang="en-GB" sz="2400" dirty="0" smtClean="0"/>
              <a:t>Manageability-More effort required for system management.</a:t>
            </a:r>
          </a:p>
          <a:p>
            <a:pPr algn="just"/>
            <a:r>
              <a:rPr lang="en-GB" sz="2400" dirty="0" smtClean="0"/>
              <a:t>Unpredictability-Unpredictable responses depending on the system organisation and network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B35E786-4852-41A8-9A71-7B6F1E495CFF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789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Distributed systems architectures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GB" dirty="0" smtClean="0"/>
              <a:t>Client-server-architectures-&gt;Distributed services which are called on by clients. Servers that provide services are treated differently from clients that use services.</a:t>
            </a:r>
          </a:p>
          <a:p>
            <a:pPr algn="just"/>
            <a:r>
              <a:rPr lang="en-GB" dirty="0" smtClean="0"/>
              <a:t>Distributed-object-architectures-&gt;No distinction between clients and servers. Any object on the system may provide and use services from other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051FD11-8C8B-4318-9D3A-7C5CA772A1F8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35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Middleware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GB" sz="2400" dirty="0" smtClean="0"/>
              <a:t>Software that manages and supports the different components of a distributed system. In essence, it sits in the </a:t>
            </a:r>
            <a:r>
              <a:rPr lang="en-GB" sz="2400" i="1" dirty="0" smtClean="0"/>
              <a:t>middle </a:t>
            </a:r>
            <a:r>
              <a:rPr lang="en-GB" sz="2400" dirty="0" smtClean="0"/>
              <a:t>of the system.</a:t>
            </a:r>
          </a:p>
          <a:p>
            <a:pPr algn="just"/>
            <a:r>
              <a:rPr lang="en-GB" sz="2400" dirty="0" smtClean="0"/>
              <a:t>Middleware is usually off-the-shelf rather than specially written software.</a:t>
            </a:r>
          </a:p>
          <a:p>
            <a:pPr algn="just"/>
            <a:r>
              <a:rPr lang="en-GB" sz="2400" dirty="0" smtClean="0"/>
              <a:t>Examples</a:t>
            </a:r>
          </a:p>
          <a:p>
            <a:pPr lvl="1" algn="just"/>
            <a:r>
              <a:rPr lang="en-GB" sz="2000" dirty="0" smtClean="0"/>
              <a:t>Transaction processing monitors;</a:t>
            </a:r>
          </a:p>
          <a:p>
            <a:pPr lvl="1" algn="just"/>
            <a:r>
              <a:rPr lang="en-GB" sz="2000" dirty="0" smtClean="0"/>
              <a:t>Data converters;</a:t>
            </a:r>
          </a:p>
          <a:p>
            <a:pPr lvl="1" algn="just"/>
            <a:r>
              <a:rPr lang="en-GB" sz="2000" dirty="0" smtClean="0"/>
              <a:t>Communication controllers.</a:t>
            </a:r>
          </a:p>
          <a:p>
            <a:pPr lvl="1" algn="just"/>
            <a:endParaRPr lang="en-GB" sz="200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0189E-9558-4A9E-A3A3-72E1AA98053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041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Multiprocessor architectures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>
              <a:lnSpc>
                <a:spcPct val="90000"/>
              </a:lnSpc>
            </a:pPr>
            <a:r>
              <a:rPr lang="en-GB" dirty="0" smtClean="0"/>
              <a:t>Simplest distributed system model.</a:t>
            </a:r>
          </a:p>
          <a:p>
            <a:pPr algn="just">
              <a:lnSpc>
                <a:spcPct val="90000"/>
              </a:lnSpc>
            </a:pPr>
            <a:r>
              <a:rPr lang="en-GB" dirty="0" smtClean="0"/>
              <a:t>System composed of multiple processes which may (but need not) execute on different processors.</a:t>
            </a:r>
          </a:p>
          <a:p>
            <a:pPr algn="just">
              <a:lnSpc>
                <a:spcPct val="90000"/>
              </a:lnSpc>
            </a:pPr>
            <a:r>
              <a:rPr lang="en-GB" dirty="0" smtClean="0"/>
              <a:t>Architectural model of many large real-time systems.</a:t>
            </a:r>
          </a:p>
          <a:p>
            <a:pPr algn="just">
              <a:lnSpc>
                <a:spcPct val="90000"/>
              </a:lnSpc>
            </a:pPr>
            <a:r>
              <a:rPr lang="en-GB" dirty="0" smtClean="0"/>
              <a:t>Distribution of process to processor may be pre-ordered or may be under the control of a dispatcher.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E4D231-9A31-42DA-9EC9-9A7262FEC063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188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smtClean="0"/>
              <a:t>A multiprocessor traffic control system</a:t>
            </a:r>
            <a:endParaRPr lang="en-GB" smtClean="0"/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838200" y="2438400"/>
            <a:ext cx="8001000" cy="31242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13316" name="Picture 6" descr="12.1 Multiprocessor(11.2).eps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90600" y="2667000"/>
            <a:ext cx="7848600" cy="326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8C2A1E-6EB8-417F-8E47-C8A4497BD5DC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671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3.7 Client-server architectures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GB" dirty="0" smtClean="0"/>
              <a:t>The application is modelled as a set of services that are provided by servers and a set of clients that use these services.</a:t>
            </a:r>
          </a:p>
          <a:p>
            <a:pPr algn="just"/>
            <a:r>
              <a:rPr lang="en-GB" dirty="0" smtClean="0"/>
              <a:t>Clients know of servers but servers need not know of clients.</a:t>
            </a:r>
          </a:p>
          <a:p>
            <a:pPr algn="just"/>
            <a:r>
              <a:rPr lang="en-GB" dirty="0" smtClean="0"/>
              <a:t>Clients and servers are logical processes </a:t>
            </a:r>
          </a:p>
          <a:p>
            <a:pPr algn="just"/>
            <a:r>
              <a:rPr lang="en-GB" dirty="0" smtClean="0"/>
              <a:t>The mapping of processors to processes is not necessarily 1 :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15B5F2C-6F86-43D2-A610-F1B6D3930EDF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033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A client-server system</a:t>
            </a:r>
          </a:p>
        </p:txBody>
      </p:sp>
      <p:sp>
        <p:nvSpPr>
          <p:cNvPr id="15363" name="Rectangle 5"/>
          <p:cNvSpPr>
            <a:spLocks noChangeArrowheads="1"/>
          </p:cNvSpPr>
          <p:nvPr/>
        </p:nvSpPr>
        <p:spPr bwMode="auto">
          <a:xfrm>
            <a:off x="838200" y="2362200"/>
            <a:ext cx="7924800" cy="38100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15364" name="Picture 6" descr="12.2 ClientServer(11.3).eps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90600" y="2057400"/>
            <a:ext cx="73914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0EB330-EBF3-405A-AB43-7EEA1F58A6EC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06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Computers in a C/S network</a:t>
            </a:r>
          </a:p>
        </p:txBody>
      </p:sp>
      <p:sp>
        <p:nvSpPr>
          <p:cNvPr id="16387" name="Rectangle 5"/>
          <p:cNvSpPr>
            <a:spLocks noChangeArrowheads="1"/>
          </p:cNvSpPr>
          <p:nvPr/>
        </p:nvSpPr>
        <p:spPr bwMode="auto">
          <a:xfrm>
            <a:off x="914400" y="2362200"/>
            <a:ext cx="7924800" cy="38100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16388" name="Picture 6" descr="12.3 CS-network(11.4).eps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14400" y="2438400"/>
            <a:ext cx="7543800" cy="2951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662F51-49CF-4600-9C16-C14FC11C30F3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208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Layered application architecture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sz="2400" dirty="0" smtClean="0"/>
              <a:t>Presentation layer-Concerned with presenting the results of a computation to system users and with collecting user inputs.</a:t>
            </a:r>
          </a:p>
          <a:p>
            <a:pPr algn="just"/>
            <a:r>
              <a:rPr lang="en-GB" sz="2400" dirty="0" smtClean="0"/>
              <a:t>Application processing layer-Concerned with providing application specific functionality e.g., in a banking system, banking functions such as open account, close account, etc.</a:t>
            </a:r>
          </a:p>
          <a:p>
            <a:pPr algn="just"/>
            <a:r>
              <a:rPr lang="en-GB" sz="2400" dirty="0" smtClean="0"/>
              <a:t>Data management layer-Concerned with managing the system databases.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C69A66-496B-4117-8BC6-7344673B87F0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5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Application layers</a:t>
            </a:r>
          </a:p>
        </p:txBody>
      </p:sp>
      <p:sp>
        <p:nvSpPr>
          <p:cNvPr id="18435" name="Rectangle 5"/>
          <p:cNvSpPr>
            <a:spLocks noChangeArrowheads="1"/>
          </p:cNvSpPr>
          <p:nvPr/>
        </p:nvSpPr>
        <p:spPr bwMode="auto">
          <a:xfrm>
            <a:off x="1981200" y="2362200"/>
            <a:ext cx="4953000" cy="44958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18436" name="Picture 6" descr="12.4 AppLayers(11.5).eps 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71800" y="2057400"/>
            <a:ext cx="2908300" cy="3886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6A4D962-BBBC-458D-ACE7-CBD1EC312316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19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Thin and fat clients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dirty="0" smtClean="0"/>
              <a:t>Thin-client model </a:t>
            </a:r>
          </a:p>
          <a:p>
            <a:pPr lvl="1" algn="just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dirty="0" smtClean="0"/>
              <a:t>In a thin-client model, all of the application processing and data management is carried out on the server. The client is simply responsible for running the presentation software.</a:t>
            </a:r>
          </a:p>
          <a:p>
            <a:pPr algn="just">
              <a:lnSpc>
                <a:spcPct val="90000"/>
              </a:lnSpc>
            </a:pPr>
            <a:r>
              <a:rPr lang="en-GB" dirty="0" smtClean="0"/>
              <a:t>Fat-client model </a:t>
            </a:r>
          </a:p>
          <a:p>
            <a:pPr lvl="1" algn="just">
              <a:lnSpc>
                <a:spcPct val="90000"/>
              </a:lnSpc>
            </a:pPr>
            <a:r>
              <a:rPr lang="en-GB" dirty="0" smtClean="0"/>
              <a:t>In this model, the server is only responsible for data management. The software on the client implements the application logic and the interactions with the system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10BD643-727E-4BAE-9DD9-05A198790501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425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Thin and fat clients</a:t>
            </a:r>
          </a:p>
        </p:txBody>
      </p:sp>
      <p:sp>
        <p:nvSpPr>
          <p:cNvPr id="20483" name="Rectangle 5"/>
          <p:cNvSpPr>
            <a:spLocks noChangeArrowheads="1"/>
          </p:cNvSpPr>
          <p:nvPr/>
        </p:nvSpPr>
        <p:spPr bwMode="auto">
          <a:xfrm>
            <a:off x="838200" y="2362200"/>
            <a:ext cx="7924800" cy="35814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20484" name="Picture 6" descr="12.5 ThinFatClient(11.6).eps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95400" y="2895600"/>
            <a:ext cx="6629400" cy="251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FA51DA6-B5D7-410F-AE37-3BE85FB71251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531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Thin client model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GB" dirty="0" smtClean="0"/>
              <a:t>Used when legacy systems are migrated to client server architectures. </a:t>
            </a:r>
          </a:p>
          <a:p>
            <a:pPr lvl="1" algn="just"/>
            <a:r>
              <a:rPr lang="en-GB" dirty="0" smtClean="0"/>
              <a:t>The legacy system acts as a server in its own right with a graphical interface implemented on a client.</a:t>
            </a:r>
          </a:p>
          <a:p>
            <a:pPr algn="just"/>
            <a:r>
              <a:rPr lang="en-GB" dirty="0" smtClean="0"/>
              <a:t>A major disadvantage is that it places a heavy processing load on both the server and the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699C95-C46D-4D9E-A1AF-430FFB21D943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33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Fat client model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>
              <a:lnSpc>
                <a:spcPct val="90000"/>
              </a:lnSpc>
            </a:pPr>
            <a:r>
              <a:rPr lang="en-GB" dirty="0" smtClean="0"/>
              <a:t>More processing is delegated to the client as the application processing is locally executed.</a:t>
            </a:r>
          </a:p>
          <a:p>
            <a:pPr algn="just">
              <a:lnSpc>
                <a:spcPct val="90000"/>
              </a:lnSpc>
            </a:pPr>
            <a:r>
              <a:rPr lang="en-GB" dirty="0" smtClean="0"/>
              <a:t>Most suitable for new C/S systems where the capabilities of the client system are known in advance.</a:t>
            </a:r>
          </a:p>
          <a:p>
            <a:pPr algn="just">
              <a:lnSpc>
                <a:spcPct val="90000"/>
              </a:lnSpc>
            </a:pPr>
            <a:r>
              <a:rPr lang="en-GB" dirty="0" smtClean="0"/>
              <a:t>More complex than a thin client model especially for management. New versions of the application have to be installed on all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96A8DD-7B7A-4318-BA3E-99736C66DDAF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62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A client-server ATM system</a:t>
            </a:r>
          </a:p>
        </p:txBody>
      </p:sp>
      <p:sp>
        <p:nvSpPr>
          <p:cNvPr id="23555" name="Rectangle 5"/>
          <p:cNvSpPr>
            <a:spLocks noChangeArrowheads="1"/>
          </p:cNvSpPr>
          <p:nvPr/>
        </p:nvSpPr>
        <p:spPr bwMode="auto">
          <a:xfrm>
            <a:off x="990600" y="2514600"/>
            <a:ext cx="7162800" cy="38100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23556" name="Picture 6" descr="12.6 ATM-CS-sys(11.7).eps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24000" y="2438400"/>
            <a:ext cx="5791200" cy="35385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1732802-F011-4B2B-80BB-01AEE5C1BB92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315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Three-tier architectures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GB" dirty="0" smtClean="0"/>
              <a:t> In a three-tier architecture, each of the application architecture layers may execute on a separate processor.</a:t>
            </a:r>
          </a:p>
          <a:p>
            <a:pPr algn="just"/>
            <a:r>
              <a:rPr lang="en-GB" dirty="0" smtClean="0"/>
              <a:t>Allows for better performance than a thin-client approach and is simpler to manage than a fat-client approach.</a:t>
            </a:r>
          </a:p>
          <a:p>
            <a:pPr algn="just"/>
            <a:r>
              <a:rPr lang="en-GB" dirty="0" smtClean="0"/>
              <a:t>A more scalable architecture - as demands increase, extra servers can be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F6420F8-2499-48FA-8111-9DA37954369C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713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A 3-tier C/S architecture</a:t>
            </a:r>
          </a:p>
        </p:txBody>
      </p:sp>
      <p:sp>
        <p:nvSpPr>
          <p:cNvPr id="25603" name="Rectangle 5"/>
          <p:cNvSpPr>
            <a:spLocks noChangeArrowheads="1"/>
          </p:cNvSpPr>
          <p:nvPr/>
        </p:nvSpPr>
        <p:spPr bwMode="auto">
          <a:xfrm>
            <a:off x="838200" y="2514600"/>
            <a:ext cx="8001000" cy="31242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25604" name="Picture 6" descr="12.7 Three-tier-arch(11.8)..eps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14400" y="2895600"/>
            <a:ext cx="7467600" cy="161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C1CF9A-21B2-4735-A85E-3AEE2A0157CB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820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An internet banking system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838200" y="2438400"/>
            <a:ext cx="7924800" cy="41148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 </a:t>
            </a:r>
          </a:p>
        </p:txBody>
      </p:sp>
      <p:pic>
        <p:nvPicPr>
          <p:cNvPr id="26628" name="Picture 6" descr="12.8 BankingSystem(11.9).eps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90600" y="2438400"/>
            <a:ext cx="7010400" cy="3733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B51765C-FA8C-4BEB-9014-424E337F64B4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98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3.8 Distributed object architectures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sz="2800" dirty="0" smtClean="0"/>
              <a:t>There is no distinction in a distributed object architectures between clients and servers.</a:t>
            </a:r>
          </a:p>
          <a:p>
            <a:pPr algn="just"/>
            <a:r>
              <a:rPr lang="en-GB" sz="2800" dirty="0" smtClean="0"/>
              <a:t>Each distributable entity is an object that provides services to other objects and receives services from other objects.</a:t>
            </a:r>
          </a:p>
          <a:p>
            <a:pPr algn="just"/>
            <a:r>
              <a:rPr lang="en-GB" sz="2800" dirty="0" smtClean="0"/>
              <a:t>Object communication is through a middleware system called an object request broker. </a:t>
            </a:r>
          </a:p>
          <a:p>
            <a:pPr algn="just"/>
            <a:r>
              <a:rPr lang="en-GB" sz="2800" dirty="0" smtClean="0"/>
              <a:t>However, distributed object architectures are more complex to design than C/S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E8CC25-9D2E-4959-A26E-CEC04730E6CE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0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Distributed object architecture</a:t>
            </a:r>
          </a:p>
        </p:txBody>
      </p:sp>
      <p:sp>
        <p:nvSpPr>
          <p:cNvPr id="28675" name="Rectangle 5"/>
          <p:cNvSpPr>
            <a:spLocks noChangeArrowheads="1"/>
          </p:cNvSpPr>
          <p:nvPr/>
        </p:nvSpPr>
        <p:spPr bwMode="auto">
          <a:xfrm>
            <a:off x="838200" y="2362200"/>
            <a:ext cx="8001000" cy="42672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28676" name="Picture 6" descr="12.10 DistribObj(11.11).eps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66800" y="2514600"/>
            <a:ext cx="7086600" cy="355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6320A83-AE27-4294-89F1-1F07DED6100E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818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smtClean="0"/>
              <a:t>Advantages of distributed object architecture</a:t>
            </a:r>
            <a:endParaRPr lang="en-GB" smtClean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sz="2800" dirty="0" smtClean="0"/>
              <a:t>It allows the system designer to delay decisions on where and how services should be provided.</a:t>
            </a:r>
          </a:p>
          <a:p>
            <a:pPr algn="just"/>
            <a:r>
              <a:rPr lang="en-GB" sz="2800" dirty="0" smtClean="0"/>
              <a:t>It is a very open system architecture that allows new resources to be added to it as required.</a:t>
            </a:r>
          </a:p>
          <a:p>
            <a:pPr algn="just"/>
            <a:r>
              <a:rPr lang="en-GB" sz="2800" dirty="0" smtClean="0"/>
              <a:t>The system is flexible and scalable.</a:t>
            </a:r>
          </a:p>
          <a:p>
            <a:pPr algn="just"/>
            <a:r>
              <a:rPr lang="en-GB" sz="2800" dirty="0" smtClean="0"/>
              <a:t>It is possible to reconfigure the system dynamically with objects migrating across the network as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A84F735-FA18-40AF-80B9-B8CFADBB9742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055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CORBA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sz="2400" dirty="0" smtClean="0"/>
              <a:t>CORBA is an international standard for an Object Request Broker - middleware to manage communications between distributed objects.</a:t>
            </a:r>
          </a:p>
          <a:p>
            <a:pPr algn="just"/>
            <a:r>
              <a:rPr lang="en-GB" sz="2400" dirty="0" smtClean="0"/>
              <a:t>Middleware for distributed computing is required at 2 levels:</a:t>
            </a:r>
          </a:p>
          <a:p>
            <a:pPr lvl="1" algn="just"/>
            <a:r>
              <a:rPr lang="en-GB" sz="2400" dirty="0" smtClean="0"/>
              <a:t>At the logical communication level, the middleware allows objects on different computers to exchange data and control information;</a:t>
            </a:r>
          </a:p>
          <a:p>
            <a:pPr lvl="1" algn="just"/>
            <a:r>
              <a:rPr lang="en-GB" sz="2400" dirty="0" smtClean="0"/>
              <a:t>At the component level, the middleware provides a basis for developing compatible components. CORBA component standards have been defined.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EF6B56-8074-4D23-8CBD-C00F4EFC16FE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517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CORBA application structure</a:t>
            </a:r>
          </a:p>
        </p:txBody>
      </p:sp>
      <p:sp>
        <p:nvSpPr>
          <p:cNvPr id="34819" name="Rectangle 5"/>
          <p:cNvSpPr>
            <a:spLocks noChangeArrowheads="1"/>
          </p:cNvSpPr>
          <p:nvPr/>
        </p:nvSpPr>
        <p:spPr bwMode="auto">
          <a:xfrm>
            <a:off x="914400" y="2438400"/>
            <a:ext cx="7924800" cy="41910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34820" name="Picture 6" descr="12.12 CORBAApp(11.13).eps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3000" y="2438400"/>
            <a:ext cx="6858000" cy="3657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5F4C58-2750-44E2-AC7C-DF5BF4E88E6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52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Object request broker (ORB)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GB" sz="2800" dirty="0" smtClean="0"/>
              <a:t> The ORB handles object communications. It knows of all objects in the system and their interfaces.</a:t>
            </a:r>
          </a:p>
          <a:p>
            <a:pPr algn="just"/>
            <a:r>
              <a:rPr lang="en-GB" sz="2800" dirty="0" smtClean="0"/>
              <a:t>Using an ORB, the calling object binds an IDL stub that defines the interface of the called object.</a:t>
            </a:r>
          </a:p>
          <a:p>
            <a:pPr algn="just"/>
            <a:r>
              <a:rPr lang="en-GB" sz="2800" dirty="0" smtClean="0"/>
              <a:t>Calling this stub results in calls to the ORB which then calls the required object through a published IDL skeleton that links the interface to the service implementation.</a:t>
            </a:r>
          </a:p>
          <a:p>
            <a:pPr algn="just"/>
            <a:endParaRPr lang="en-GB" sz="2800" dirty="0" smtClean="0"/>
          </a:p>
          <a:p>
            <a:pPr algn="just"/>
            <a:endParaRPr lang="en-GB" sz="280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099F4-6BFB-4780-A976-F65D9922BBC7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93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762000" y="762000"/>
            <a:ext cx="8188325" cy="1108075"/>
          </a:xfrm>
        </p:spPr>
        <p:txBody>
          <a:bodyPr/>
          <a:lstStyle/>
          <a:p>
            <a:r>
              <a:rPr lang="en-GB" smtClean="0"/>
              <a:t>ORB-based object communications</a:t>
            </a:r>
          </a:p>
        </p:txBody>
      </p:sp>
      <p:sp>
        <p:nvSpPr>
          <p:cNvPr id="39939" name="Rectangle 5"/>
          <p:cNvSpPr>
            <a:spLocks noChangeArrowheads="1"/>
          </p:cNvSpPr>
          <p:nvPr/>
        </p:nvSpPr>
        <p:spPr bwMode="auto">
          <a:xfrm>
            <a:off x="1524000" y="2438400"/>
            <a:ext cx="5943600" cy="4419600"/>
          </a:xfrm>
          <a:prstGeom prst="rect">
            <a:avLst/>
          </a:prstGeom>
          <a:solidFill>
            <a:schemeClr val="bg1"/>
          </a:solidFill>
          <a:ln w="12700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39940" name="Picture 6" descr="12.13 ORB(11.14).eps     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14600" y="2438400"/>
            <a:ext cx="4048125" cy="3657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83B49C-232C-40CB-9FA5-8113DA0F81CA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8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mtClean="0"/>
              <a:t>CORBA services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GB" smtClean="0"/>
              <a:t>Naming and trading services</a:t>
            </a:r>
          </a:p>
          <a:p>
            <a:pPr lvl="1"/>
            <a:r>
              <a:rPr lang="en-GB" smtClean="0"/>
              <a:t>These allow objects to discover and refer to other objects on the network.</a:t>
            </a:r>
          </a:p>
          <a:p>
            <a:r>
              <a:rPr lang="en-GB" smtClean="0"/>
              <a:t>Notification services</a:t>
            </a:r>
          </a:p>
          <a:p>
            <a:pPr lvl="1"/>
            <a:r>
              <a:rPr lang="en-GB" smtClean="0"/>
              <a:t>These allow objects to notify other objects that an event has occurred.</a:t>
            </a:r>
          </a:p>
          <a:p>
            <a:r>
              <a:rPr lang="en-GB" smtClean="0"/>
              <a:t>Transaction services</a:t>
            </a:r>
          </a:p>
          <a:p>
            <a:pPr lvl="1"/>
            <a:r>
              <a:rPr lang="en-GB" smtClean="0"/>
              <a:t>These support atomic transactions and rollback on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10461B-24FD-4246-B663-DADA37224570}" type="slidenum">
              <a:rPr lang="en-US" smtClean="0"/>
              <a:pPr>
                <a:defRPr/>
              </a:pPr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489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3.9 Inter-</a:t>
            </a:r>
            <a:r>
              <a:rPr lang="en-US" dirty="0" err="1" smtClean="0"/>
              <a:t>organisational</a:t>
            </a:r>
            <a:r>
              <a:rPr lang="en-US" dirty="0" smtClean="0"/>
              <a:t> distributed computing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 algn="just"/>
            <a:r>
              <a:rPr lang="en-US" dirty="0" smtClean="0"/>
              <a:t>Deals with business to business supply chain interactions (such as EDI)</a:t>
            </a:r>
          </a:p>
          <a:p>
            <a:pPr algn="just"/>
            <a:r>
              <a:rPr lang="en-US" dirty="0" smtClean="0"/>
              <a:t>For security and inter-operability reasons, most distributed computing has been implemented at the enterprise level.</a:t>
            </a:r>
          </a:p>
          <a:p>
            <a:pPr algn="just"/>
            <a:r>
              <a:rPr lang="en-US" dirty="0" smtClean="0"/>
              <a:t>Local standards, management and operational processes apply.</a:t>
            </a:r>
          </a:p>
          <a:p>
            <a:pPr algn="just"/>
            <a:r>
              <a:rPr lang="en-US" dirty="0" smtClean="0"/>
              <a:t>Newer models of distributed computing have been designed to support inter-</a:t>
            </a:r>
            <a:r>
              <a:rPr lang="en-US" dirty="0" err="1" smtClean="0"/>
              <a:t>organisational</a:t>
            </a:r>
            <a:r>
              <a:rPr lang="en-US" dirty="0" smtClean="0"/>
              <a:t> computing where different nodes are located in different </a:t>
            </a:r>
            <a:r>
              <a:rPr lang="en-US" dirty="0" err="1" smtClean="0"/>
              <a:t>organisations</a:t>
            </a:r>
            <a:r>
              <a:rPr lang="en-US" dirty="0" smtClean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44DF1C3-C9DB-4363-BD3A-605CA8E75185}" type="slidenum">
              <a:rPr lang="en-US" smtClean="0"/>
              <a:pPr>
                <a:defRPr/>
              </a:pPr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88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Peer-to-peer architectures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800" dirty="0" smtClean="0"/>
              <a:t>Peer to peer (p2p) systems are decentralized systems where computations may be carried out by any node in the network.</a:t>
            </a:r>
          </a:p>
          <a:p>
            <a:pPr algn="just"/>
            <a:r>
              <a:rPr lang="en-US" sz="2800" dirty="0" smtClean="0"/>
              <a:t>The overall system is designed to take advantage of the computational power and storage of a large number of networked computers.</a:t>
            </a:r>
          </a:p>
          <a:p>
            <a:pPr algn="just"/>
            <a:r>
              <a:rPr lang="en-US" sz="2800" dirty="0" smtClean="0"/>
              <a:t>Most p2p systems have been personal systems but there is increasing business use of this technology.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1B1D5B8-C204-43F9-A86D-F4083079AE19}" type="slidenum">
              <a:rPr lang="en-US" smtClean="0"/>
              <a:pPr>
                <a:defRPr/>
              </a:pPr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79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P2p architectural models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The logical network architecture</a:t>
            </a:r>
          </a:p>
          <a:p>
            <a:pPr lvl="1"/>
            <a:r>
              <a:rPr lang="en-US" smtClean="0"/>
              <a:t>Decentralised architectures;</a:t>
            </a:r>
          </a:p>
          <a:p>
            <a:pPr lvl="1"/>
            <a:r>
              <a:rPr lang="en-US" smtClean="0"/>
              <a:t>Semi-centralised architectures.</a:t>
            </a:r>
          </a:p>
          <a:p>
            <a:r>
              <a:rPr lang="en-US" smtClean="0"/>
              <a:t>Application architecture</a:t>
            </a:r>
          </a:p>
          <a:p>
            <a:pPr lvl="1"/>
            <a:r>
              <a:rPr lang="en-US" smtClean="0"/>
              <a:t>The generic organisation of components making up a p2p application.</a:t>
            </a:r>
          </a:p>
          <a:p>
            <a:r>
              <a:rPr lang="en-US" smtClean="0"/>
              <a:t>Focus here on network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CE5AE31-1319-49D4-A59D-1D9CE6CAED98}" type="slidenum">
              <a:rPr lang="en-US" smtClean="0"/>
              <a:pPr>
                <a:defRPr/>
              </a:pPr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92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Decentralised p2p architecture</a:t>
            </a:r>
          </a:p>
        </p:txBody>
      </p:sp>
      <p:pic>
        <p:nvPicPr>
          <p:cNvPr id="47107" name="Picture 1028" descr="12.15 Decent-p2p.eps     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914400" y="2438400"/>
            <a:ext cx="7391400" cy="29289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C900DA-845E-434F-92CD-492DCDC99C04}" type="slidenum">
              <a:rPr lang="en-US" smtClean="0"/>
              <a:pPr>
                <a:defRPr/>
              </a:pPr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3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Semi-centralised p2p architecture</a:t>
            </a:r>
          </a:p>
        </p:txBody>
      </p:sp>
      <p:pic>
        <p:nvPicPr>
          <p:cNvPr id="48131" name="Picture 4" descr="12.16 SemiCentp2p.eps                                          0007B8B8Macintosh HD                   B8AA5F2E: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28800" y="2514600"/>
            <a:ext cx="5791200" cy="391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670883-5D01-4A5B-AB80-1569C574CB56}" type="slidenum">
              <a:rPr lang="en-US" smtClean="0"/>
              <a:pPr>
                <a:defRPr/>
              </a:pPr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94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Assignment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What do you mean by architectural design? Explain repository and layered model with example of each. List out Advantages and disadvantages of these models.</a:t>
            </a:r>
          </a:p>
          <a:p>
            <a:r>
              <a:rPr lang="en-US" dirty="0" smtClean="0"/>
              <a:t>Explain any one reference architecture with example.</a:t>
            </a:r>
          </a:p>
          <a:p>
            <a:r>
              <a:rPr lang="en-US" dirty="0" smtClean="0"/>
              <a:t>Explain 3-tier architecture and its components </a:t>
            </a:r>
            <a:r>
              <a:rPr lang="en-US" smtClean="0"/>
              <a:t>in details.</a:t>
            </a:r>
            <a:endParaRPr lang="en-US" dirty="0" smtClean="0"/>
          </a:p>
          <a:p>
            <a:r>
              <a:rPr lang="en-US" dirty="0" smtClean="0"/>
              <a:t>Explain distributed object architectures with example.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023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2981</Words>
  <Application>Microsoft Office PowerPoint</Application>
  <PresentationFormat>On-screen Show (4:3)</PresentationFormat>
  <Paragraphs>335</Paragraphs>
  <Slides>79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0" baseType="lpstr">
      <vt:lpstr>Office Theme</vt:lpstr>
      <vt:lpstr> UNIT 3: Overview </vt:lpstr>
      <vt:lpstr>UNIT 3: Architectural Design</vt:lpstr>
      <vt:lpstr>Architectural Design Includes</vt:lpstr>
      <vt:lpstr>Architectural Design Process</vt:lpstr>
      <vt:lpstr>3.1 Architectural Design Decisions</vt:lpstr>
      <vt:lpstr>Architectural Views/System Structuring</vt:lpstr>
      <vt:lpstr>Sub System and Module</vt:lpstr>
      <vt:lpstr>Architectural Models</vt:lpstr>
      <vt:lpstr>Architectural Models</vt:lpstr>
      <vt:lpstr>3.2 System Organization/Architectural Views</vt:lpstr>
      <vt:lpstr>1. Shared data repository style/ Repository Model</vt:lpstr>
      <vt:lpstr>Shared data/Repository Model</vt:lpstr>
      <vt:lpstr>Shared data repository style/ Repository Model</vt:lpstr>
      <vt:lpstr>Advantages</vt:lpstr>
      <vt:lpstr>Disadvantages</vt:lpstr>
      <vt:lpstr> A shared service or server style/The Client-Server model </vt:lpstr>
      <vt:lpstr> A shared service or server style/The Client-Server model </vt:lpstr>
      <vt:lpstr>Film and picture library</vt:lpstr>
      <vt:lpstr> Advantages </vt:lpstr>
      <vt:lpstr> Disadvantages </vt:lpstr>
      <vt:lpstr>The Layered Model/Abstract machine model</vt:lpstr>
      <vt:lpstr>ISO/OSI network model</vt:lpstr>
      <vt:lpstr>Advantages</vt:lpstr>
      <vt:lpstr>Disadvantages</vt:lpstr>
      <vt:lpstr> 3.3 Modular Decomposition styles </vt:lpstr>
      <vt:lpstr>Object models</vt:lpstr>
      <vt:lpstr>Example: Invoice processing system</vt:lpstr>
      <vt:lpstr>Data Flow Model</vt:lpstr>
      <vt:lpstr>Example: Invoice processing system</vt:lpstr>
      <vt:lpstr>3.4 Control Styles/Models</vt:lpstr>
      <vt:lpstr>Centralized Control Model</vt:lpstr>
      <vt:lpstr>Call-return model</vt:lpstr>
      <vt:lpstr>Manager model:  real-time system control</vt:lpstr>
      <vt:lpstr>Event Based Control</vt:lpstr>
      <vt:lpstr>Broadcast Model</vt:lpstr>
      <vt:lpstr>Broadcast Model</vt:lpstr>
      <vt:lpstr>Selective Broadcasting</vt:lpstr>
      <vt:lpstr>Interrupt driven Control</vt:lpstr>
      <vt:lpstr>Interrupt driven Control</vt:lpstr>
      <vt:lpstr>3.5 Reference Architectures</vt:lpstr>
      <vt:lpstr>Generic Models</vt:lpstr>
      <vt:lpstr>Generic Model</vt:lpstr>
      <vt:lpstr>Reference Model</vt:lpstr>
      <vt:lpstr>Example: Reference Model</vt:lpstr>
      <vt:lpstr>3.6 Multiprocessor Architecture</vt:lpstr>
      <vt:lpstr>System Types</vt:lpstr>
      <vt:lpstr>Distributed System Characteristics</vt:lpstr>
      <vt:lpstr>Distributed system disadvantages</vt:lpstr>
      <vt:lpstr>Distributed systems architectures</vt:lpstr>
      <vt:lpstr>Middleware</vt:lpstr>
      <vt:lpstr>Multiprocessor architectures</vt:lpstr>
      <vt:lpstr>A multiprocessor traffic control system</vt:lpstr>
      <vt:lpstr>3.7 Client-server architectures</vt:lpstr>
      <vt:lpstr>A client-server system</vt:lpstr>
      <vt:lpstr>Computers in a C/S network</vt:lpstr>
      <vt:lpstr>Layered application architecture</vt:lpstr>
      <vt:lpstr>Application layers</vt:lpstr>
      <vt:lpstr>Thin and fat clients</vt:lpstr>
      <vt:lpstr>Thin and fat clients</vt:lpstr>
      <vt:lpstr>Thin client model</vt:lpstr>
      <vt:lpstr>Fat client model</vt:lpstr>
      <vt:lpstr>A client-server ATM system</vt:lpstr>
      <vt:lpstr>Three-tier architectures</vt:lpstr>
      <vt:lpstr>A 3-tier C/S architecture</vt:lpstr>
      <vt:lpstr>An internet banking system</vt:lpstr>
      <vt:lpstr>3.8 Distributed object architectures</vt:lpstr>
      <vt:lpstr>Distributed object architecture</vt:lpstr>
      <vt:lpstr>Advantages of distributed object architecture</vt:lpstr>
      <vt:lpstr>CORBA</vt:lpstr>
      <vt:lpstr>CORBA application structure</vt:lpstr>
      <vt:lpstr>Object request broker (ORB)</vt:lpstr>
      <vt:lpstr>ORB-based object communications</vt:lpstr>
      <vt:lpstr>CORBA services</vt:lpstr>
      <vt:lpstr>3.9 Inter-organisational distributed computing</vt:lpstr>
      <vt:lpstr>Peer-to-peer architectures</vt:lpstr>
      <vt:lpstr>P2p architectural models</vt:lpstr>
      <vt:lpstr>Decentralised p2p architecture</vt:lpstr>
      <vt:lpstr>Semi-centralised p2p architecture</vt:lpstr>
      <vt:lpstr>Assignment 3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</dc:title>
  <dc:creator>DELL</dc:creator>
  <cp:lastModifiedBy>DELL</cp:lastModifiedBy>
  <cp:revision>18</cp:revision>
  <dcterms:created xsi:type="dcterms:W3CDTF">2006-08-16T00:00:00Z</dcterms:created>
  <dcterms:modified xsi:type="dcterms:W3CDTF">2022-06-09T05:27:57Z</dcterms:modified>
</cp:coreProperties>
</file>