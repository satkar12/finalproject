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61" r:id="rId4"/>
    <p:sldId id="262" r:id="rId5"/>
    <p:sldId id="263" r:id="rId6"/>
    <p:sldId id="264" r:id="rId7"/>
    <p:sldId id="258" r:id="rId8"/>
    <p:sldId id="259" r:id="rId9"/>
    <p:sldId id="265" r:id="rId10"/>
    <p:sldId id="266" r:id="rId11"/>
    <p:sldId id="268" r:id="rId12"/>
    <p:sldId id="267" r:id="rId13"/>
    <p:sldId id="269" r:id="rId14"/>
    <p:sldId id="270" r:id="rId15"/>
    <p:sldId id="274" r:id="rId16"/>
    <p:sldId id="271" r:id="rId17"/>
    <p:sldId id="272" r:id="rId18"/>
    <p:sldId id="276" r:id="rId19"/>
    <p:sldId id="275" r:id="rId20"/>
    <p:sldId id="277" r:id="rId21"/>
    <p:sldId id="273" r:id="rId22"/>
    <p:sldId id="278" r:id="rId23"/>
    <p:sldId id="279" r:id="rId24"/>
    <p:sldId id="280" r:id="rId25"/>
    <p:sldId id="281" r:id="rId26"/>
    <p:sldId id="282" r:id="rId27"/>
    <p:sldId id="288" r:id="rId28"/>
    <p:sldId id="283" r:id="rId29"/>
    <p:sldId id="284" r:id="rId30"/>
    <p:sldId id="285" r:id="rId31"/>
    <p:sldId id="286" r:id="rId32"/>
    <p:sldId id="287" r:id="rId33"/>
    <p:sldId id="2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29"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9846276-53D3-4C80-8B95-9D1307F16FCE}" type="datetimeFigureOut">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2722890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846276-53D3-4C80-8B95-9D1307F16FCE}" type="datetimeFigureOut">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1454521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9846276-53D3-4C80-8B95-9D1307F16FCE}" type="datetimeFigureOut">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1445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9846276-53D3-4C80-8B95-9D1307F16FCE}" type="datetimeFigureOut">
              <a:rPr lang="en-US" smtClean="0"/>
              <a:t>9/20/2020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410894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9846276-53D3-4C80-8B95-9D1307F16FCE}" type="datetimeFigureOut">
              <a:rPr lang="en-US" smtClean="0"/>
              <a:t>9/20/2020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3961077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9846276-53D3-4C80-8B95-9D1307F16FCE}" type="datetimeFigureOut">
              <a:rPr lang="en-US" smtClean="0"/>
              <a:t>9/20/2020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2639730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846276-53D3-4C80-8B95-9D1307F16FCE}" type="datetimeFigureOut">
              <a:rPr lang="en-US" smtClean="0"/>
              <a:t>9/20/2020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2305199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9846276-53D3-4C80-8B95-9D1307F16FCE}" type="datetimeFigureOut">
              <a:rPr lang="en-US" smtClean="0"/>
              <a:t>9/20/2020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2597899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9846276-53D3-4C80-8B95-9D1307F16FCE}" type="datetimeFigureOut">
              <a:rPr lang="en-US" smtClean="0"/>
              <a:t>9/20/2020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81907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846276-53D3-4C80-8B95-9D1307F16FCE}" type="datetimeFigureOut">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215117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846276-53D3-4C80-8B95-9D1307F16FCE}" type="datetimeFigureOut">
              <a:rPr lang="en-US" smtClean="0"/>
              <a:t>9/20/2020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EB3F-5692-4BD9-87A5-9FAADE678CFE}" type="slidenum">
              <a:rPr lang="en-US" smtClean="0"/>
              <a:t>‹#›</a:t>
            </a:fld>
            <a:endParaRPr lang="en-US"/>
          </a:p>
        </p:txBody>
      </p:sp>
    </p:spTree>
    <p:extLst>
      <p:ext uri="{BB962C8B-B14F-4D97-AF65-F5344CB8AC3E}">
        <p14:creationId xmlns:p14="http://schemas.microsoft.com/office/powerpoint/2010/main" val="2877277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846276-53D3-4C80-8B95-9D1307F16FCE}" type="datetimeFigureOut">
              <a:rPr lang="en-US" smtClean="0"/>
              <a:t>9/20/2020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8EB3F-5692-4BD9-87A5-9FAADE678CFE}" type="slidenum">
              <a:rPr lang="en-US" smtClean="0"/>
              <a:t>‹#›</a:t>
            </a:fld>
            <a:endParaRPr lang="en-US"/>
          </a:p>
        </p:txBody>
      </p:sp>
    </p:spTree>
    <p:extLst>
      <p:ext uri="{BB962C8B-B14F-4D97-AF65-F5344CB8AC3E}">
        <p14:creationId xmlns:p14="http://schemas.microsoft.com/office/powerpoint/2010/main" val="3607065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Inter-process Communication (IPC)</a:t>
            </a:r>
          </a:p>
        </p:txBody>
      </p:sp>
      <p:sp>
        <p:nvSpPr>
          <p:cNvPr id="3" name="Content Placeholder 2"/>
          <p:cNvSpPr>
            <a:spLocks noGrp="1"/>
          </p:cNvSpPr>
          <p:nvPr>
            <p:ph idx="1"/>
          </p:nvPr>
        </p:nvSpPr>
        <p:spPr/>
        <p:txBody>
          <a:bodyPr/>
          <a:lstStyle/>
          <a:p>
            <a:pPr algn="just"/>
            <a:r>
              <a:rPr lang="en-US" dirty="0" smtClean="0"/>
              <a:t>Processes frequently needs to communicate with each other. For example, the output of first process must passed to the second process and so on. Thus there is the need of communication between processes in a well structured way.</a:t>
            </a:r>
          </a:p>
          <a:p>
            <a:pPr algn="just"/>
            <a:r>
              <a:rPr lang="en-US" dirty="0" smtClean="0"/>
              <a:t>IPC enables one application to control another application and for several applications to share the same data without interfering with one another.</a:t>
            </a:r>
            <a:endParaRPr lang="en-US" dirty="0"/>
          </a:p>
        </p:txBody>
      </p:sp>
    </p:spTree>
    <p:extLst>
      <p:ext uri="{BB962C8B-B14F-4D97-AF65-F5344CB8AC3E}">
        <p14:creationId xmlns:p14="http://schemas.microsoft.com/office/powerpoint/2010/main" val="3413561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Inter-process Communication (IPC)</a:t>
            </a:r>
            <a:endParaRPr lang="en-US" dirty="0"/>
          </a:p>
        </p:txBody>
      </p:sp>
      <p:sp>
        <p:nvSpPr>
          <p:cNvPr id="3" name="Content Placeholder 2"/>
          <p:cNvSpPr>
            <a:spLocks noGrp="1"/>
          </p:cNvSpPr>
          <p:nvPr>
            <p:ph idx="1"/>
          </p:nvPr>
        </p:nvSpPr>
        <p:spPr/>
        <p:txBody>
          <a:bodyPr>
            <a:normAutofit fontScale="92500"/>
          </a:bodyPr>
          <a:lstStyle/>
          <a:p>
            <a:pPr algn="just" fontAlgn="base"/>
            <a:r>
              <a:rPr lang="en-US" dirty="0"/>
              <a:t>A process can be of two types:</a:t>
            </a:r>
          </a:p>
          <a:p>
            <a:pPr marL="514350" indent="-514350" algn="just" fontAlgn="base">
              <a:buFont typeface="+mj-lt"/>
              <a:buAutoNum type="arabicPeriod"/>
            </a:pPr>
            <a:r>
              <a:rPr lang="en-US" dirty="0"/>
              <a:t>Independent process.</a:t>
            </a:r>
          </a:p>
          <a:p>
            <a:pPr marL="514350" indent="-514350" algn="just" fontAlgn="base">
              <a:buFont typeface="+mj-lt"/>
              <a:buAutoNum type="arabicPeriod"/>
            </a:pPr>
            <a:r>
              <a:rPr lang="en-US" dirty="0"/>
              <a:t>Co-operating process</a:t>
            </a:r>
            <a:r>
              <a:rPr lang="en-US" dirty="0" smtClean="0"/>
              <a:t>.</a:t>
            </a:r>
          </a:p>
          <a:p>
            <a:pPr algn="just" fontAlgn="base"/>
            <a:r>
              <a:rPr lang="en-US" dirty="0"/>
              <a:t>An independent process is not affected by the execution of other processes while a co-operating process can be affected by other executing processes</a:t>
            </a:r>
            <a:r>
              <a:rPr lang="en-US" dirty="0" smtClean="0"/>
              <a:t>.</a:t>
            </a:r>
          </a:p>
          <a:p>
            <a:pPr algn="just" fontAlgn="base"/>
            <a:r>
              <a:rPr lang="en-US" dirty="0"/>
              <a:t>Inter process communication (IPC) is a mechanism which allows processes to communicate with each other and synchronize their actions</a:t>
            </a:r>
            <a:r>
              <a:rPr lang="en-US" dirty="0" smtClean="0"/>
              <a:t>.</a:t>
            </a:r>
          </a:p>
          <a:p>
            <a:pPr algn="just" fontAlgn="base"/>
            <a:r>
              <a:rPr lang="en-US" dirty="0" smtClean="0"/>
              <a:t>The </a:t>
            </a:r>
            <a:r>
              <a:rPr lang="en-US" dirty="0"/>
              <a:t>communication between these processes can be seen as a method of co-operation between them.</a:t>
            </a:r>
          </a:p>
        </p:txBody>
      </p:sp>
    </p:spTree>
    <p:extLst>
      <p:ext uri="{BB962C8B-B14F-4D97-AF65-F5344CB8AC3E}">
        <p14:creationId xmlns:p14="http://schemas.microsoft.com/office/powerpoint/2010/main" val="13008574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Cooperating Processes</a:t>
            </a:r>
            <a:endParaRPr lang="en-US" dirty="0"/>
          </a:p>
        </p:txBody>
      </p:sp>
      <p:sp>
        <p:nvSpPr>
          <p:cNvPr id="3" name="Content Placeholder 2"/>
          <p:cNvSpPr>
            <a:spLocks noGrp="1"/>
          </p:cNvSpPr>
          <p:nvPr>
            <p:ph idx="1"/>
          </p:nvPr>
        </p:nvSpPr>
        <p:spPr/>
        <p:txBody>
          <a:bodyPr/>
          <a:lstStyle/>
          <a:p>
            <a:r>
              <a:rPr lang="en-US" dirty="0" smtClean="0"/>
              <a:t>A process is independent if it can’t affect or be affected by another process. A process is co-operating if it can affects other or be affected by other processes.</a:t>
            </a:r>
          </a:p>
          <a:p>
            <a:r>
              <a:rPr lang="en-US" dirty="0" smtClean="0"/>
              <a:t>Any process that share data with other process is called co-operating process.</a:t>
            </a:r>
          </a:p>
          <a:p>
            <a:r>
              <a:rPr lang="en-US" dirty="0" smtClean="0"/>
              <a:t>There are many reasons for providing an environment for process co-operation such as information sharing, computation speedup (breakup task into subtasks), modularity (to construct system into modular fashion), etc.</a:t>
            </a:r>
            <a:endParaRPr lang="en-US" dirty="0"/>
          </a:p>
        </p:txBody>
      </p:sp>
    </p:spTree>
    <p:extLst>
      <p:ext uri="{BB962C8B-B14F-4D97-AF65-F5344CB8AC3E}">
        <p14:creationId xmlns:p14="http://schemas.microsoft.com/office/powerpoint/2010/main" val="2133571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 ways of IPC</a:t>
            </a:r>
            <a:endParaRPr lang="en-US" dirty="0"/>
          </a:p>
        </p:txBody>
      </p:sp>
      <p:sp>
        <p:nvSpPr>
          <p:cNvPr id="3" name="Content Placeholder 2"/>
          <p:cNvSpPr>
            <a:spLocks noGrp="1"/>
          </p:cNvSpPr>
          <p:nvPr>
            <p:ph idx="1"/>
          </p:nvPr>
        </p:nvSpPr>
        <p:spPr/>
        <p:txBody>
          <a:bodyPr/>
          <a:lstStyle/>
          <a:p>
            <a:r>
              <a:rPr lang="en-US" dirty="0" smtClean="0"/>
              <a:t>There are two fundamental ways of IPC.</a:t>
            </a:r>
          </a:p>
          <a:p>
            <a:pPr marL="514350" indent="-514350">
              <a:buFont typeface="+mj-lt"/>
              <a:buAutoNum type="arabicPeriod"/>
            </a:pPr>
            <a:r>
              <a:rPr lang="en-US" dirty="0" smtClean="0"/>
              <a:t>Shared Memory</a:t>
            </a:r>
          </a:p>
          <a:p>
            <a:pPr marL="514350" indent="-514350">
              <a:buFont typeface="+mj-lt"/>
              <a:buAutoNum type="arabicPeriod"/>
            </a:pPr>
            <a:r>
              <a:rPr lang="en-US" dirty="0" smtClean="0"/>
              <a:t>Message Passing</a:t>
            </a:r>
            <a:endParaRPr lang="en-US" dirty="0"/>
          </a:p>
        </p:txBody>
      </p:sp>
    </p:spTree>
    <p:extLst>
      <p:ext uri="{BB962C8B-B14F-4D97-AF65-F5344CB8AC3E}">
        <p14:creationId xmlns:p14="http://schemas.microsoft.com/office/powerpoint/2010/main" val="9777052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Memory</a:t>
            </a:r>
            <a:endParaRPr lang="en-US" dirty="0"/>
          </a:p>
        </p:txBody>
      </p:sp>
      <p:sp>
        <p:nvSpPr>
          <p:cNvPr id="3" name="Content Placeholder 2"/>
          <p:cNvSpPr>
            <a:spLocks noGrp="1"/>
          </p:cNvSpPr>
          <p:nvPr>
            <p:ph idx="1"/>
          </p:nvPr>
        </p:nvSpPr>
        <p:spPr/>
        <p:txBody>
          <a:bodyPr/>
          <a:lstStyle/>
          <a:p>
            <a:r>
              <a:rPr lang="en-US" dirty="0" smtClean="0"/>
              <a:t>Here, a region of memory that is shared by co-operating process is established.</a:t>
            </a:r>
          </a:p>
          <a:p>
            <a:r>
              <a:rPr lang="en-US" dirty="0" smtClean="0"/>
              <a:t>Process can exchange the information by reading and writing data to the shared region.</a:t>
            </a:r>
          </a:p>
          <a:p>
            <a:r>
              <a:rPr lang="en-US" dirty="0" smtClean="0"/>
              <a:t>System calls are required only to establish share memory regions. Once shared memory is established no assistance from the kernel is required.</a:t>
            </a:r>
          </a:p>
          <a:p>
            <a:endParaRPr lang="en-US" dirty="0"/>
          </a:p>
          <a:p>
            <a:endParaRPr lang="en-US" dirty="0"/>
          </a:p>
        </p:txBody>
      </p:sp>
    </p:spTree>
    <p:extLst>
      <p:ext uri="{BB962C8B-B14F-4D97-AF65-F5344CB8AC3E}">
        <p14:creationId xmlns:p14="http://schemas.microsoft.com/office/powerpoint/2010/main" val="11468223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Passing</a:t>
            </a:r>
            <a:endParaRPr lang="en-US" dirty="0"/>
          </a:p>
        </p:txBody>
      </p:sp>
      <p:sp>
        <p:nvSpPr>
          <p:cNvPr id="3" name="Content Placeholder 2"/>
          <p:cNvSpPr>
            <a:spLocks noGrp="1"/>
          </p:cNvSpPr>
          <p:nvPr>
            <p:ph idx="1"/>
          </p:nvPr>
        </p:nvSpPr>
        <p:spPr/>
        <p:txBody>
          <a:bodyPr/>
          <a:lstStyle/>
          <a:p>
            <a:r>
              <a:rPr lang="en-US" dirty="0" smtClean="0"/>
              <a:t>Communication takes place by means of message exchanged between the co-operating process.</a:t>
            </a:r>
          </a:p>
          <a:p>
            <a:r>
              <a:rPr lang="en-US" dirty="0" smtClean="0"/>
              <a:t>Message passing is useful for exchanging the smaller amount of data since no conflict need to be avoided.</a:t>
            </a:r>
          </a:p>
          <a:p>
            <a:r>
              <a:rPr lang="en-US" dirty="0" smtClean="0"/>
              <a:t>Slower than shared memory as message passing system are implemented using system call which requires more time consuming task of kernel.</a:t>
            </a:r>
            <a:endParaRPr lang="en-US" dirty="0"/>
          </a:p>
        </p:txBody>
      </p:sp>
    </p:spTree>
    <p:extLst>
      <p:ext uri="{BB962C8B-B14F-4D97-AF65-F5344CB8AC3E}">
        <p14:creationId xmlns:p14="http://schemas.microsoft.com/office/powerpoint/2010/main" val="33826522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Race Condition</a:t>
            </a:r>
            <a:endParaRPr lang="en-US" dirty="0"/>
          </a:p>
        </p:txBody>
      </p:sp>
      <p:sp>
        <p:nvSpPr>
          <p:cNvPr id="3" name="Content Placeholder 2"/>
          <p:cNvSpPr>
            <a:spLocks noGrp="1"/>
          </p:cNvSpPr>
          <p:nvPr>
            <p:ph idx="1"/>
          </p:nvPr>
        </p:nvSpPr>
        <p:spPr/>
        <p:txBody>
          <a:bodyPr/>
          <a:lstStyle/>
          <a:p>
            <a:r>
              <a:rPr lang="en-US" dirty="0"/>
              <a:t>A race condition is an undesirable situation that occurs when a device or system attempts to perform two or more operations at the same time, but because of the nature of the device or system, the operations must be done in the proper sequence to be done correctly</a:t>
            </a:r>
            <a:r>
              <a:rPr lang="en-US" dirty="0" smtClean="0"/>
              <a:t>.</a:t>
            </a:r>
          </a:p>
          <a:p>
            <a:r>
              <a:rPr lang="en-US" dirty="0" smtClean="0"/>
              <a:t>The situation where two or more processes are reading or writing some shared data and final results depends on who runs precisely when are called race conditions.</a:t>
            </a:r>
            <a:endParaRPr lang="en-US" dirty="0"/>
          </a:p>
        </p:txBody>
      </p:sp>
    </p:spTree>
    <p:extLst>
      <p:ext uri="{BB962C8B-B14F-4D97-AF65-F5344CB8AC3E}">
        <p14:creationId xmlns:p14="http://schemas.microsoft.com/office/powerpoint/2010/main" val="35889833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Region/Section</a:t>
            </a:r>
            <a:endParaRPr lang="en-US" dirty="0"/>
          </a:p>
        </p:txBody>
      </p:sp>
      <p:sp>
        <p:nvSpPr>
          <p:cNvPr id="3" name="Content Placeholder 2"/>
          <p:cNvSpPr>
            <a:spLocks noGrp="1"/>
          </p:cNvSpPr>
          <p:nvPr>
            <p:ph idx="1"/>
          </p:nvPr>
        </p:nvSpPr>
        <p:spPr/>
        <p:txBody>
          <a:bodyPr/>
          <a:lstStyle/>
          <a:p>
            <a:r>
              <a:rPr lang="en-US" dirty="0"/>
              <a:t>When more than one processes access a same code segment that segment is known as critical section</a:t>
            </a:r>
            <a:r>
              <a:rPr lang="en-US"/>
              <a:t>. </a:t>
            </a:r>
            <a:endParaRPr lang="en-US" smtClean="0"/>
          </a:p>
          <a:p>
            <a:r>
              <a:rPr lang="en-US" smtClean="0"/>
              <a:t>Critical </a:t>
            </a:r>
            <a:r>
              <a:rPr lang="en-US"/>
              <a:t>section contains shared variables or resources which are needed to be synchronized to maintain consistency of data variable.</a:t>
            </a:r>
            <a:endParaRPr lang="en-US" dirty="0"/>
          </a:p>
        </p:txBody>
      </p:sp>
    </p:spTree>
    <p:extLst>
      <p:ext uri="{BB962C8B-B14F-4D97-AF65-F5344CB8AC3E}">
        <p14:creationId xmlns:p14="http://schemas.microsoft.com/office/powerpoint/2010/main" val="11871952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Avoiding Race Condition</a:t>
            </a:r>
            <a:endParaRPr lang="en-US" dirty="0"/>
          </a:p>
        </p:txBody>
      </p:sp>
      <p:sp>
        <p:nvSpPr>
          <p:cNvPr id="3" name="Content Placeholder 2"/>
          <p:cNvSpPr>
            <a:spLocks noGrp="1"/>
          </p:cNvSpPr>
          <p:nvPr>
            <p:ph idx="1"/>
          </p:nvPr>
        </p:nvSpPr>
        <p:spPr/>
        <p:txBody>
          <a:bodyPr/>
          <a:lstStyle/>
          <a:p>
            <a:pPr algn="just"/>
            <a:r>
              <a:rPr lang="en-US" dirty="0" smtClean="0"/>
              <a:t>To avoid race condition, we need mutual exclusion.</a:t>
            </a:r>
          </a:p>
          <a:p>
            <a:pPr algn="just"/>
            <a:r>
              <a:rPr lang="en-US" dirty="0" smtClean="0"/>
              <a:t>Mutual Exclusion is someway of making sure that if one process is using a shared variable or file, the other processes will be excluded from doing the same things.</a:t>
            </a:r>
          </a:p>
          <a:p>
            <a:pPr algn="just"/>
            <a:r>
              <a:rPr lang="en-US" dirty="0" smtClean="0"/>
              <a:t>If we could arrange matters in such that no two processes were ever in their critical regions at the same time, we could avoid race conditions. </a:t>
            </a:r>
            <a:endParaRPr lang="en-US" dirty="0"/>
          </a:p>
        </p:txBody>
      </p:sp>
    </p:spTree>
    <p:extLst>
      <p:ext uri="{BB962C8B-B14F-4D97-AF65-F5344CB8AC3E}">
        <p14:creationId xmlns:p14="http://schemas.microsoft.com/office/powerpoint/2010/main" val="458967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Rules for avoiding </a:t>
            </a:r>
            <a:r>
              <a:rPr lang="en-US" dirty="0"/>
              <a:t>R</a:t>
            </a:r>
            <a:r>
              <a:rPr lang="en-US" dirty="0" smtClean="0"/>
              <a:t>ace Condition/Solution to Critical Section Problem</a:t>
            </a:r>
            <a:endParaRPr lang="en-US" dirty="0"/>
          </a:p>
        </p:txBody>
      </p:sp>
      <p:sp>
        <p:nvSpPr>
          <p:cNvPr id="3" name="Content Placeholder 2"/>
          <p:cNvSpPr>
            <a:spLocks noGrp="1"/>
          </p:cNvSpPr>
          <p:nvPr>
            <p:ph idx="1"/>
          </p:nvPr>
        </p:nvSpPr>
        <p:spPr/>
        <p:txBody>
          <a:bodyPr/>
          <a:lstStyle/>
          <a:p>
            <a:r>
              <a:rPr lang="en-US" dirty="0" smtClean="0"/>
              <a:t>No two processes may be simultaneously inside their critical regions. (Mutual Exclusion)</a:t>
            </a:r>
          </a:p>
          <a:p>
            <a:r>
              <a:rPr lang="en-US" dirty="0" smtClean="0"/>
              <a:t>No assumptions may be made about speeds or the number of CPUs.</a:t>
            </a:r>
          </a:p>
          <a:p>
            <a:r>
              <a:rPr lang="en-US" dirty="0" smtClean="0"/>
              <a:t>No process running outside its critical region may block other processes.</a:t>
            </a:r>
          </a:p>
          <a:p>
            <a:r>
              <a:rPr lang="en-US" dirty="0" smtClean="0"/>
              <a:t>No process should have to wait forever to enter its critical region.</a:t>
            </a:r>
          </a:p>
          <a:p>
            <a:endParaRPr lang="en-US" dirty="0"/>
          </a:p>
        </p:txBody>
      </p:sp>
    </p:spTree>
    <p:extLst>
      <p:ext uri="{BB962C8B-B14F-4D97-AF65-F5344CB8AC3E}">
        <p14:creationId xmlns:p14="http://schemas.microsoft.com/office/powerpoint/2010/main" val="5837810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Mutual Exclusion using Critical Region</a:t>
            </a:r>
            <a:endParaRPr lang="en-US" dirty="0"/>
          </a:p>
        </p:txBody>
      </p:sp>
      <p:pic>
        <p:nvPicPr>
          <p:cNvPr id="1026" name="Picture 2" descr="D:\OS_BCT\C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064" y="2234502"/>
            <a:ext cx="8001000" cy="341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6674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Techniques for avoiding </a:t>
            </a:r>
            <a:r>
              <a:rPr lang="en-US" dirty="0"/>
              <a:t>R</a:t>
            </a:r>
            <a:r>
              <a:rPr lang="en-US" dirty="0" smtClean="0"/>
              <a:t>ace Condition</a:t>
            </a:r>
            <a:endParaRPr lang="en-US" dirty="0"/>
          </a:p>
        </p:txBody>
      </p:sp>
      <p:sp>
        <p:nvSpPr>
          <p:cNvPr id="3" name="Content Placeholder 2"/>
          <p:cNvSpPr>
            <a:spLocks noGrp="1"/>
          </p:cNvSpPr>
          <p:nvPr>
            <p:ph idx="1"/>
          </p:nvPr>
        </p:nvSpPr>
        <p:spPr/>
        <p:txBody>
          <a:bodyPr/>
          <a:lstStyle/>
          <a:p>
            <a:r>
              <a:rPr lang="en-US" dirty="0" smtClean="0"/>
              <a:t>Disabling Interrupts</a:t>
            </a:r>
          </a:p>
          <a:p>
            <a:r>
              <a:rPr lang="en-US" dirty="0" smtClean="0"/>
              <a:t>Lock Variables</a:t>
            </a:r>
          </a:p>
          <a:p>
            <a:r>
              <a:rPr lang="en-US" dirty="0" smtClean="0"/>
              <a:t>Strict Alteration</a:t>
            </a:r>
          </a:p>
          <a:p>
            <a:r>
              <a:rPr lang="en-US" dirty="0" smtClean="0"/>
              <a:t>Peterson’s Solution</a:t>
            </a:r>
          </a:p>
          <a:p>
            <a:r>
              <a:rPr lang="en-US" dirty="0" smtClean="0"/>
              <a:t>TSL Instruction</a:t>
            </a:r>
          </a:p>
          <a:p>
            <a:r>
              <a:rPr lang="en-US" dirty="0" smtClean="0"/>
              <a:t>Sleep and Wakeup</a:t>
            </a:r>
          </a:p>
          <a:p>
            <a:r>
              <a:rPr lang="en-US" dirty="0" smtClean="0"/>
              <a:t>Semaphores</a:t>
            </a:r>
          </a:p>
          <a:p>
            <a:r>
              <a:rPr lang="en-US" dirty="0" smtClean="0"/>
              <a:t>Message Passing</a:t>
            </a:r>
            <a:endParaRPr lang="en-US" dirty="0"/>
          </a:p>
        </p:txBody>
      </p:sp>
    </p:spTree>
    <p:extLst>
      <p:ext uri="{BB962C8B-B14F-4D97-AF65-F5344CB8AC3E}">
        <p14:creationId xmlns:p14="http://schemas.microsoft.com/office/powerpoint/2010/main" val="38984314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Disabling Interrupts</a:t>
            </a:r>
            <a:endParaRPr lang="en-US" dirty="0"/>
          </a:p>
        </p:txBody>
      </p:sp>
      <p:sp>
        <p:nvSpPr>
          <p:cNvPr id="3" name="Content Placeholder 2"/>
          <p:cNvSpPr>
            <a:spLocks noGrp="1"/>
          </p:cNvSpPr>
          <p:nvPr>
            <p:ph idx="1"/>
          </p:nvPr>
        </p:nvSpPr>
        <p:spPr/>
        <p:txBody>
          <a:bodyPr/>
          <a:lstStyle/>
          <a:p>
            <a:r>
              <a:rPr lang="en-US" dirty="0" smtClean="0"/>
              <a:t>Each process disable all interrupts just after entering its critical region and re-enable them just before leaving it.</a:t>
            </a:r>
          </a:p>
          <a:p>
            <a:r>
              <a:rPr lang="en-US" dirty="0" smtClean="0"/>
              <a:t>With interrupt disabled, no clock interrupts can occur and hence no switching between processes.</a:t>
            </a:r>
          </a:p>
          <a:p>
            <a:r>
              <a:rPr lang="en-US" dirty="0" smtClean="0"/>
              <a:t>Once a process has disable interrupts, it can examine and update the shared memory without fear that any other process will intervene.</a:t>
            </a:r>
          </a:p>
          <a:p>
            <a:r>
              <a:rPr lang="en-US" dirty="0" smtClean="0"/>
              <a:t>Flaw:-It </a:t>
            </a:r>
            <a:r>
              <a:rPr lang="en-US" dirty="0"/>
              <a:t>is unwise to give user processes the power to turn off interrupts. Suppose that one of them did, and then never turned them on again?</a:t>
            </a:r>
          </a:p>
          <a:p>
            <a:endParaRPr lang="en-US" dirty="0"/>
          </a:p>
        </p:txBody>
      </p:sp>
    </p:spTree>
    <p:extLst>
      <p:ext uri="{BB962C8B-B14F-4D97-AF65-F5344CB8AC3E}">
        <p14:creationId xmlns:p14="http://schemas.microsoft.com/office/powerpoint/2010/main" val="8460402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Variables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single, shared (lock) variable, initially 0.</a:t>
            </a:r>
          </a:p>
          <a:p>
            <a:r>
              <a:rPr lang="en-US" dirty="0" smtClean="0"/>
              <a:t>When a process wants to enter its critical region, it first tests the lock.</a:t>
            </a:r>
          </a:p>
          <a:p>
            <a:r>
              <a:rPr lang="en-US" dirty="0" smtClean="0"/>
              <a:t>If the lock is 0, the process sets it to 1 and enters the critical region. </a:t>
            </a:r>
          </a:p>
          <a:p>
            <a:r>
              <a:rPr lang="en-US" dirty="0" smtClean="0"/>
              <a:t>If the lock is already 1, the process just waits until it becomes 0.</a:t>
            </a:r>
          </a:p>
          <a:p>
            <a:r>
              <a:rPr lang="en-US" dirty="0" smtClean="0"/>
              <a:t>0 means that no process is in its critical region.</a:t>
            </a:r>
          </a:p>
          <a:p>
            <a:r>
              <a:rPr lang="en-US" dirty="0" smtClean="0"/>
              <a:t>1 means that some </a:t>
            </a:r>
            <a:r>
              <a:rPr lang="en-US" dirty="0"/>
              <a:t>process is in its critical region</a:t>
            </a:r>
            <a:r>
              <a:rPr lang="en-US" dirty="0" smtClean="0"/>
              <a:t>.</a:t>
            </a:r>
          </a:p>
          <a:p>
            <a:r>
              <a:rPr lang="en-US" dirty="0" smtClean="0"/>
              <a:t>Flaw:- Suppose that one process reads the lock and sees that it is 0.Before it can set the lock to 1, another process is scheduled, runs and sets the lock to 1. when the first process runs again, it will also set the lock to 1, and two processes will be in their critical region. </a:t>
            </a:r>
            <a:r>
              <a:rPr lang="en-US" dirty="0"/>
              <a:t>(like as in spooler directory</a:t>
            </a:r>
            <a:r>
              <a:rPr lang="en-US" dirty="0" smtClean="0"/>
              <a:t>)</a:t>
            </a:r>
            <a:endParaRPr lang="en-US" dirty="0"/>
          </a:p>
        </p:txBody>
      </p:sp>
    </p:spTree>
    <p:extLst>
      <p:ext uri="{BB962C8B-B14F-4D97-AF65-F5344CB8AC3E}">
        <p14:creationId xmlns:p14="http://schemas.microsoft.com/office/powerpoint/2010/main" val="26778776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Strict Alteration/Turn Variable</a:t>
            </a:r>
          </a:p>
        </p:txBody>
      </p:sp>
      <p:pic>
        <p:nvPicPr>
          <p:cNvPr id="3074" name="Picture 2" descr="D:\OS_BCT\stric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041" y="2289174"/>
            <a:ext cx="8285798" cy="3791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4831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Strict Alteration/Turn Variable</a:t>
            </a:r>
            <a:endParaRPr lang="en-US" dirty="0"/>
          </a:p>
        </p:txBody>
      </p:sp>
      <p:sp>
        <p:nvSpPr>
          <p:cNvPr id="3" name="Content Placeholder 2"/>
          <p:cNvSpPr>
            <a:spLocks noGrp="1"/>
          </p:cNvSpPr>
          <p:nvPr>
            <p:ph idx="1"/>
          </p:nvPr>
        </p:nvSpPr>
        <p:spPr>
          <a:xfrm>
            <a:off x="838200" y="1752473"/>
            <a:ext cx="10515600" cy="4351338"/>
          </a:xfrm>
        </p:spPr>
        <p:txBody>
          <a:bodyPr>
            <a:normAutofit fontScale="92500" lnSpcReduction="20000"/>
          </a:bodyPr>
          <a:lstStyle/>
          <a:p>
            <a:r>
              <a:rPr lang="en-US" dirty="0" smtClean="0"/>
              <a:t>The </a:t>
            </a:r>
            <a:r>
              <a:rPr lang="en-US" dirty="0"/>
              <a:t>integer variable 'turn' keeps track of whose turn is to enter the critical section</a:t>
            </a:r>
            <a:r>
              <a:rPr lang="en-US" dirty="0" smtClean="0"/>
              <a:t>.</a:t>
            </a:r>
          </a:p>
          <a:p>
            <a:r>
              <a:rPr lang="en-US" dirty="0" smtClean="0"/>
              <a:t>Initially</a:t>
            </a:r>
            <a:r>
              <a:rPr lang="en-US" dirty="0"/>
              <a:t>, process A inspect turn, finds it to be 0, and enters in its critical section. </a:t>
            </a:r>
            <a:endParaRPr lang="en-US" dirty="0" smtClean="0"/>
          </a:p>
          <a:p>
            <a:r>
              <a:rPr lang="en-US" dirty="0" smtClean="0"/>
              <a:t>Process </a:t>
            </a:r>
            <a:r>
              <a:rPr lang="en-US" dirty="0"/>
              <a:t>B also finds it to be 0 and sits in a loop continually testing 'turn' to see when it becomes 1</a:t>
            </a:r>
            <a:r>
              <a:rPr lang="en-US" dirty="0" smtClean="0"/>
              <a:t>.</a:t>
            </a:r>
          </a:p>
          <a:p>
            <a:r>
              <a:rPr lang="en-US" dirty="0" smtClean="0"/>
              <a:t>Continuously </a:t>
            </a:r>
            <a:r>
              <a:rPr lang="en-US" dirty="0"/>
              <a:t>testing a variable waiting for some value to appear is called the </a:t>
            </a:r>
            <a:r>
              <a:rPr lang="en-US" i="1" dirty="0"/>
              <a:t>Busy-Waiting</a:t>
            </a:r>
            <a:r>
              <a:rPr lang="en-US" dirty="0" smtClean="0"/>
              <a:t>.</a:t>
            </a:r>
          </a:p>
          <a:p>
            <a:r>
              <a:rPr lang="en-US" dirty="0" smtClean="0"/>
              <a:t>Flaw:-</a:t>
            </a:r>
            <a:r>
              <a:rPr lang="en-US" dirty="0"/>
              <a:t> Taking turns is not a good idea when one of the processes is much slower than the other. Suppose process 0 finishes its critical section quickly, so both processes are now in their noncritical section. This situation violates above mentioned condition </a:t>
            </a:r>
            <a:r>
              <a:rPr lang="en-US" dirty="0" smtClean="0"/>
              <a:t>3 (No process running outside the critical region may block other process)</a:t>
            </a:r>
            <a:endParaRPr lang="en-US" dirty="0"/>
          </a:p>
        </p:txBody>
      </p:sp>
    </p:spTree>
    <p:extLst>
      <p:ext uri="{BB962C8B-B14F-4D97-AF65-F5344CB8AC3E}">
        <p14:creationId xmlns:p14="http://schemas.microsoft.com/office/powerpoint/2010/main" val="16447744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Peterson’s Solution</a:t>
            </a:r>
            <a:endParaRPr lang="en-US" dirty="0"/>
          </a:p>
        </p:txBody>
      </p:sp>
      <p:sp>
        <p:nvSpPr>
          <p:cNvPr id="3" name="Content Placeholder 2"/>
          <p:cNvSpPr>
            <a:spLocks noGrp="1"/>
          </p:cNvSpPr>
          <p:nvPr>
            <p:ph idx="1"/>
          </p:nvPr>
        </p:nvSpPr>
        <p:spPr/>
        <p:txBody>
          <a:bodyPr/>
          <a:lstStyle/>
          <a:p>
            <a:pPr algn="just"/>
            <a:r>
              <a:rPr lang="en-US" dirty="0"/>
              <a:t>Peterson's algorithm (or Peterson's solution) is a concurrent programming </a:t>
            </a:r>
            <a:r>
              <a:rPr lang="en-US" dirty="0" smtClean="0"/>
              <a:t>algorithm</a:t>
            </a:r>
            <a:r>
              <a:rPr lang="en-US" dirty="0"/>
              <a:t> for mutual exclusion that allows two or more processes to share a single-use resource without conflict, using only shared memory for communication. </a:t>
            </a:r>
            <a:endParaRPr lang="en-US" dirty="0" smtClean="0"/>
          </a:p>
          <a:p>
            <a:pPr algn="just"/>
            <a:r>
              <a:rPr lang="en-US" dirty="0" smtClean="0"/>
              <a:t>It </a:t>
            </a:r>
            <a:r>
              <a:rPr lang="en-US" dirty="0"/>
              <a:t>was formulated by Gary L. Peterson in 1981</a:t>
            </a:r>
            <a:r>
              <a:rPr lang="en-US" dirty="0" smtClean="0"/>
              <a:t>.</a:t>
            </a:r>
          </a:p>
          <a:p>
            <a:pPr algn="just"/>
            <a:r>
              <a:rPr lang="en-US" dirty="0"/>
              <a:t>The algorithm uses two variables, flag and turn. A flag[n] value of true indicates that the process n wants to enter the critical section. Entrance to the critical section is granted for process P0 if P1 does not want to enter its critical section or if P1 has given priority to P0 by setting turn to 0.</a:t>
            </a:r>
          </a:p>
        </p:txBody>
      </p:sp>
    </p:spTree>
    <p:extLst>
      <p:ext uri="{BB962C8B-B14F-4D97-AF65-F5344CB8AC3E}">
        <p14:creationId xmlns:p14="http://schemas.microsoft.com/office/powerpoint/2010/main" val="61605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Peterson’s Solution</a:t>
            </a:r>
          </a:p>
        </p:txBody>
      </p:sp>
      <p:pic>
        <p:nvPicPr>
          <p:cNvPr id="4098" name="Picture 2" descr="D:\OS_BCT\Peters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608" y="1627188"/>
            <a:ext cx="9061703" cy="4636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3102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Peterson’s Solution</a:t>
            </a:r>
          </a:p>
        </p:txBody>
      </p:sp>
      <p:sp>
        <p:nvSpPr>
          <p:cNvPr id="3" name="Content Placeholder 2"/>
          <p:cNvSpPr>
            <a:spLocks noGrp="1"/>
          </p:cNvSpPr>
          <p:nvPr>
            <p:ph idx="1"/>
          </p:nvPr>
        </p:nvSpPr>
        <p:spPr/>
        <p:txBody>
          <a:bodyPr>
            <a:normAutofit/>
          </a:bodyPr>
          <a:lstStyle/>
          <a:p>
            <a:r>
              <a:rPr lang="en-US" dirty="0" smtClean="0"/>
              <a:t>Initially neither process is in its critical region.</a:t>
            </a:r>
          </a:p>
          <a:p>
            <a:r>
              <a:rPr lang="en-US" dirty="0" smtClean="0"/>
              <a:t>Now process 0 calls </a:t>
            </a:r>
            <a:r>
              <a:rPr lang="en-US" dirty="0" err="1" smtClean="0"/>
              <a:t>enter_region</a:t>
            </a:r>
            <a:r>
              <a:rPr lang="en-US" dirty="0" smtClean="0"/>
              <a:t>(). It indicates its interest by setting its array element and sets turn to 0. since process 1 is not interested, </a:t>
            </a:r>
            <a:r>
              <a:rPr lang="en-US" dirty="0" err="1" smtClean="0"/>
              <a:t>enter_region</a:t>
            </a:r>
            <a:r>
              <a:rPr lang="en-US" dirty="0" smtClean="0"/>
              <a:t>() returns immediately.</a:t>
            </a:r>
          </a:p>
          <a:p>
            <a:r>
              <a:rPr lang="en-US" dirty="0" smtClean="0"/>
              <a:t>If process 1 now calls </a:t>
            </a:r>
            <a:r>
              <a:rPr lang="en-US" dirty="0" err="1" smtClean="0"/>
              <a:t>enter_region</a:t>
            </a:r>
            <a:r>
              <a:rPr lang="en-US" dirty="0" smtClean="0"/>
              <a:t>(), it will hang there until interested[0] goes FALSE, an event that will only happens when process 0 calls </a:t>
            </a:r>
            <a:r>
              <a:rPr lang="en-US" dirty="0" err="1" smtClean="0"/>
              <a:t>leave_region</a:t>
            </a:r>
            <a:r>
              <a:rPr lang="en-US" dirty="0" smtClean="0"/>
              <a:t>() to exit the critical region.</a:t>
            </a:r>
          </a:p>
        </p:txBody>
      </p:sp>
    </p:spTree>
    <p:extLst>
      <p:ext uri="{BB962C8B-B14F-4D97-AF65-F5344CB8AC3E}">
        <p14:creationId xmlns:p14="http://schemas.microsoft.com/office/powerpoint/2010/main" val="15332435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Peterson’s Solution</a:t>
            </a:r>
          </a:p>
        </p:txBody>
      </p:sp>
      <p:sp>
        <p:nvSpPr>
          <p:cNvPr id="3" name="Content Placeholder 2"/>
          <p:cNvSpPr>
            <a:spLocks noGrp="1"/>
          </p:cNvSpPr>
          <p:nvPr>
            <p:ph idx="1"/>
          </p:nvPr>
        </p:nvSpPr>
        <p:spPr/>
        <p:txBody>
          <a:bodyPr/>
          <a:lstStyle/>
          <a:p>
            <a:r>
              <a:rPr lang="en-US" dirty="0"/>
              <a:t>Now, consider the case that both processes call </a:t>
            </a:r>
            <a:r>
              <a:rPr lang="en-US" dirty="0" err="1"/>
              <a:t>enter_region</a:t>
            </a:r>
            <a:r>
              <a:rPr lang="en-US" dirty="0"/>
              <a:t>() almost simultaneously. Both will store their process number in turn. Whichever store is done last is the one that counts, the first one is lost</a:t>
            </a:r>
            <a:r>
              <a:rPr lang="en-US" dirty="0" smtClean="0"/>
              <a:t>.</a:t>
            </a:r>
          </a:p>
          <a:p>
            <a:r>
              <a:rPr lang="en-US" dirty="0" smtClean="0"/>
              <a:t>Suppose that the process 1 stores last, so turn is 1. when both processes come to the while statement, process 0 executes it zero times and enters its critical region. Process 1 loops and does not enters its critical region.</a:t>
            </a:r>
            <a:endParaRPr lang="en-US" dirty="0"/>
          </a:p>
          <a:p>
            <a:endParaRPr lang="en-US" dirty="0"/>
          </a:p>
        </p:txBody>
      </p:sp>
    </p:spTree>
    <p:extLst>
      <p:ext uri="{BB962C8B-B14F-4D97-AF65-F5344CB8AC3E}">
        <p14:creationId xmlns:p14="http://schemas.microsoft.com/office/powerpoint/2010/main" val="28343450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TSL (Test and Set Lock) Instruction</a:t>
            </a:r>
            <a:endParaRPr lang="en-US" dirty="0"/>
          </a:p>
        </p:txBody>
      </p:sp>
      <p:sp>
        <p:nvSpPr>
          <p:cNvPr id="3" name="Content Placeholder 2"/>
          <p:cNvSpPr>
            <a:spLocks noGrp="1"/>
          </p:cNvSpPr>
          <p:nvPr>
            <p:ph idx="1"/>
          </p:nvPr>
        </p:nvSpPr>
        <p:spPr/>
        <p:txBody>
          <a:bodyPr/>
          <a:lstStyle/>
          <a:p>
            <a:r>
              <a:rPr lang="en-US" dirty="0" smtClean="0"/>
              <a:t>TSL RX, LOCK-&gt;it reads the contents of the memory word LOCK into register RX and then stores nonzero value at the memory address LOCK.</a:t>
            </a:r>
          </a:p>
          <a:p>
            <a:r>
              <a:rPr lang="en-US" dirty="0" smtClean="0"/>
              <a:t>The operations of reading the word and storing into it are guaranteed to be indivisible </a:t>
            </a:r>
            <a:r>
              <a:rPr lang="en-US" dirty="0" err="1" smtClean="0"/>
              <a:t>i.e</a:t>
            </a:r>
            <a:r>
              <a:rPr lang="en-US" dirty="0" smtClean="0"/>
              <a:t> no other processor can access the memory word until the instruction is finished.</a:t>
            </a:r>
          </a:p>
          <a:p>
            <a:r>
              <a:rPr lang="en-US" dirty="0" smtClean="0"/>
              <a:t>The CPU executing the TSL instruction locks the memory bus to prohibit other CPUs from accessing memory until it is done. </a:t>
            </a:r>
          </a:p>
          <a:p>
            <a:endParaRPr lang="en-US" dirty="0"/>
          </a:p>
        </p:txBody>
      </p:sp>
    </p:spTree>
    <p:extLst>
      <p:ext uri="{BB962C8B-B14F-4D97-AF65-F5344CB8AC3E}">
        <p14:creationId xmlns:p14="http://schemas.microsoft.com/office/powerpoint/2010/main" val="14517797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Mutual Exclusion</a:t>
            </a:r>
            <a:endParaRPr lang="en-US" dirty="0"/>
          </a:p>
        </p:txBody>
      </p:sp>
      <p:sp>
        <p:nvSpPr>
          <p:cNvPr id="3" name="Content Placeholder 2"/>
          <p:cNvSpPr>
            <a:spLocks noGrp="1"/>
          </p:cNvSpPr>
          <p:nvPr>
            <p:ph idx="1"/>
          </p:nvPr>
        </p:nvSpPr>
        <p:spPr/>
        <p:txBody>
          <a:bodyPr/>
          <a:lstStyle/>
          <a:p>
            <a:r>
              <a:rPr lang="en-US" dirty="0" smtClean="0"/>
              <a:t>The above techniques uses Busy waiting i.e. here while one process is busy updating shared memory in its critical region, no other process will enter its </a:t>
            </a:r>
            <a:r>
              <a:rPr lang="en-US" dirty="0"/>
              <a:t>critical </a:t>
            </a:r>
            <a:r>
              <a:rPr lang="en-US" dirty="0" smtClean="0"/>
              <a:t>region and cause trouble. </a:t>
            </a:r>
          </a:p>
          <a:p>
            <a:r>
              <a:rPr lang="en-US" dirty="0" smtClean="0"/>
              <a:t>The process just sits in a tight loop waiting for its turn.</a:t>
            </a:r>
          </a:p>
          <a:p>
            <a:r>
              <a:rPr lang="en-US" dirty="0" smtClean="0"/>
              <a:t>Busy waiting approach waste CPU time.</a:t>
            </a:r>
          </a:p>
          <a:p>
            <a:r>
              <a:rPr lang="en-US" dirty="0" smtClean="0"/>
              <a:t>There can be an unexpected problem called priority inversion problem.</a:t>
            </a:r>
            <a:endParaRPr lang="en-US" dirty="0"/>
          </a:p>
        </p:txBody>
      </p:sp>
    </p:spTree>
    <p:extLst>
      <p:ext uri="{BB962C8B-B14F-4D97-AF65-F5344CB8AC3E}">
        <p14:creationId xmlns:p14="http://schemas.microsoft.com/office/powerpoint/2010/main" val="3321190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Priority Inversion Problem</a:t>
            </a:r>
            <a:endParaRPr lang="en-US" dirty="0"/>
          </a:p>
        </p:txBody>
      </p:sp>
      <p:sp>
        <p:nvSpPr>
          <p:cNvPr id="3" name="Content Placeholder 2"/>
          <p:cNvSpPr>
            <a:spLocks noGrp="1"/>
          </p:cNvSpPr>
          <p:nvPr>
            <p:ph idx="1"/>
          </p:nvPr>
        </p:nvSpPr>
        <p:spPr/>
        <p:txBody>
          <a:bodyPr>
            <a:normAutofit lnSpcReduction="10000"/>
          </a:bodyPr>
          <a:lstStyle/>
          <a:p>
            <a:r>
              <a:rPr lang="en-US" dirty="0" smtClean="0"/>
              <a:t>Priority inversion</a:t>
            </a:r>
            <a:r>
              <a:rPr lang="en-US" dirty="0"/>
              <a:t> is a scenario in scheduling in which a high priority task is indirectly preempted by a lower priority task effectively inverting the relative priorities of the two tasks</a:t>
            </a:r>
            <a:r>
              <a:rPr lang="en-US" dirty="0" smtClean="0"/>
              <a:t>. </a:t>
            </a:r>
            <a:r>
              <a:rPr lang="en-US" dirty="0"/>
              <a:t> This implies the inversion of the priorities of the two processes.</a:t>
            </a:r>
            <a:endParaRPr lang="en-US" dirty="0" smtClean="0"/>
          </a:p>
          <a:p>
            <a:r>
              <a:rPr lang="en-US" dirty="0" smtClean="0"/>
              <a:t>Consider a computer with two processes, H, with high priority and L with low priority, which share a critical region. The scheduling rules are such that H is run whenever it is in ready state. At a certain moment, with L in its </a:t>
            </a:r>
            <a:r>
              <a:rPr lang="en-US" dirty="0"/>
              <a:t>critical </a:t>
            </a:r>
            <a:r>
              <a:rPr lang="en-US" dirty="0" smtClean="0"/>
              <a:t>region, H becomes ready to run. H now begins busy waiting, but since L is never scheduled while H is running, L never gets the chance to leave its </a:t>
            </a:r>
            <a:r>
              <a:rPr lang="en-US" dirty="0"/>
              <a:t>critical </a:t>
            </a:r>
            <a:r>
              <a:rPr lang="en-US" dirty="0" smtClean="0"/>
              <a:t>region. So H loops forever. This situation is referred to as the priority inversion problem.</a:t>
            </a:r>
            <a:endParaRPr lang="en-US" dirty="0"/>
          </a:p>
        </p:txBody>
      </p:sp>
    </p:spTree>
    <p:extLst>
      <p:ext uri="{BB962C8B-B14F-4D97-AF65-F5344CB8AC3E}">
        <p14:creationId xmlns:p14="http://schemas.microsoft.com/office/powerpoint/2010/main" val="11868329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Sleep </a:t>
            </a:r>
            <a:r>
              <a:rPr lang="en-US" smtClean="0"/>
              <a:t>and wakeup</a:t>
            </a:r>
            <a:endParaRPr lang="en-US"/>
          </a:p>
        </p:txBody>
      </p:sp>
      <p:sp>
        <p:nvSpPr>
          <p:cNvPr id="3" name="Content Placeholder 2"/>
          <p:cNvSpPr>
            <a:spLocks noGrp="1"/>
          </p:cNvSpPr>
          <p:nvPr>
            <p:ph idx="1"/>
          </p:nvPr>
        </p:nvSpPr>
        <p:spPr>
          <a:xfrm>
            <a:off x="838200" y="1825625"/>
            <a:ext cx="10515600" cy="2865247"/>
          </a:xfrm>
        </p:spPr>
        <p:txBody>
          <a:bodyPr>
            <a:normAutofit fontScale="92500" lnSpcReduction="10000"/>
          </a:bodyPr>
          <a:lstStyle/>
          <a:p>
            <a:r>
              <a:rPr lang="en-US" dirty="0" smtClean="0"/>
              <a:t>Sleep and wakeup are system calls that blocks process instead of wasting CPU time when they are not allowed to enter critical region.</a:t>
            </a:r>
          </a:p>
          <a:p>
            <a:r>
              <a:rPr lang="en-US" dirty="0" smtClean="0"/>
              <a:t>Sleep is a system call that causes the caller to block, that is, be suspended until another process wakes it up.</a:t>
            </a:r>
          </a:p>
          <a:p>
            <a:r>
              <a:rPr lang="en-US" dirty="0" smtClean="0"/>
              <a:t>The wakeup call has one parameter, the process to be awakened.</a:t>
            </a:r>
          </a:p>
          <a:p>
            <a:r>
              <a:rPr lang="en-US" dirty="0" smtClean="0"/>
              <a:t>Ex: Producer-Consumer Problem</a:t>
            </a:r>
          </a:p>
          <a:p>
            <a:pPr marL="0" indent="0">
              <a:buNone/>
            </a:pPr>
            <a:r>
              <a:rPr lang="en-US" dirty="0" smtClean="0"/>
              <a:t>   (Bounded Buffer)</a:t>
            </a:r>
            <a:endParaRPr lang="en-US" dirty="0"/>
          </a:p>
        </p:txBody>
      </p:sp>
      <p:pic>
        <p:nvPicPr>
          <p:cNvPr id="1026" name="Picture 2" descr="D:\OS_BCT\P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2320" y="4160520"/>
            <a:ext cx="3515423" cy="2118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2458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Producer-Consumer Problem (Bounded Buffer)</a:t>
            </a:r>
            <a:endParaRPr lang="en-US" dirty="0"/>
          </a:p>
        </p:txBody>
      </p:sp>
      <p:sp>
        <p:nvSpPr>
          <p:cNvPr id="3" name="Content Placeholder 2"/>
          <p:cNvSpPr>
            <a:spLocks noGrp="1"/>
          </p:cNvSpPr>
          <p:nvPr>
            <p:ph idx="1"/>
          </p:nvPr>
        </p:nvSpPr>
        <p:spPr/>
        <p:txBody>
          <a:bodyPr/>
          <a:lstStyle/>
          <a:p>
            <a:pPr algn="just"/>
            <a:r>
              <a:rPr lang="en-US" dirty="0"/>
              <a:t>The Producer-Consumer problem is a classic problem this is used for multi-process synchronization i.e. synchronization between more than one processes.</a:t>
            </a:r>
          </a:p>
          <a:p>
            <a:pPr algn="just"/>
            <a:r>
              <a:rPr lang="en-US" dirty="0"/>
              <a:t>In the producer-consumer problem, there is one Producer that is producing something and there is one Consumer that is consuming the products produced by the Producer. The producers and consumers share the same memory buffer that is of fixed-size.</a:t>
            </a:r>
          </a:p>
          <a:p>
            <a:pPr algn="just"/>
            <a:r>
              <a:rPr lang="en-US" dirty="0"/>
              <a:t>The job of the Producer is to generate the data, put it into the buffer, and again start generating data. While the job of the Consumer is to consume the data from the buffer.</a:t>
            </a:r>
          </a:p>
          <a:p>
            <a:pPr algn="just"/>
            <a:endParaRPr lang="en-US" dirty="0"/>
          </a:p>
        </p:txBody>
      </p:sp>
    </p:spTree>
    <p:extLst>
      <p:ext uri="{BB962C8B-B14F-4D97-AF65-F5344CB8AC3E}">
        <p14:creationId xmlns:p14="http://schemas.microsoft.com/office/powerpoint/2010/main" val="25736659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a:t>
            </a:r>
            <a:endParaRPr lang="en-US" dirty="0"/>
          </a:p>
        </p:txBody>
      </p:sp>
      <p:sp>
        <p:nvSpPr>
          <p:cNvPr id="3" name="Content Placeholder 2"/>
          <p:cNvSpPr>
            <a:spLocks noGrp="1"/>
          </p:cNvSpPr>
          <p:nvPr>
            <p:ph idx="1"/>
          </p:nvPr>
        </p:nvSpPr>
        <p:spPr/>
        <p:txBody>
          <a:bodyPr>
            <a:normAutofit lnSpcReduction="10000"/>
          </a:bodyPr>
          <a:lstStyle/>
          <a:p>
            <a:r>
              <a:rPr lang="en-US" dirty="0"/>
              <a:t>The producer should produce data only when the buffer is not full. If the buffer is full, then the producer shouldn't be allowed to put any data into the buffer</a:t>
            </a:r>
            <a:r>
              <a:rPr lang="en-US" dirty="0" smtClean="0"/>
              <a:t>. (If the buffer is already full, producer goes to sleep and to be awakened when the consumer has removed data)</a:t>
            </a:r>
            <a:endParaRPr lang="en-US" dirty="0"/>
          </a:p>
          <a:p>
            <a:r>
              <a:rPr lang="en-US" dirty="0"/>
              <a:t>The consumer should consume data only when the buffer is not empty. If the buffer is empty, then the consumer shouldn't be allowed to take any data from the buffer</a:t>
            </a:r>
            <a:r>
              <a:rPr lang="en-US" dirty="0" smtClean="0"/>
              <a:t>. (if buffer is already empty, consumer goes to sleep until the producer puts some data in buffer and wakes consumer up)</a:t>
            </a:r>
          </a:p>
          <a:p>
            <a:r>
              <a:rPr lang="en-US" dirty="0"/>
              <a:t>The producer and consumer should not access the buffer at the same time.</a:t>
            </a:r>
          </a:p>
          <a:p>
            <a:endParaRPr lang="en-US" dirty="0"/>
          </a:p>
          <a:p>
            <a:endParaRPr lang="en-US" dirty="0"/>
          </a:p>
        </p:txBody>
      </p:sp>
    </p:spTree>
    <p:extLst>
      <p:ext uri="{BB962C8B-B14F-4D97-AF65-F5344CB8AC3E}">
        <p14:creationId xmlns:p14="http://schemas.microsoft.com/office/powerpoint/2010/main" val="8825757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 Consumer problem with fatal Race condition</a:t>
            </a:r>
            <a:endParaRPr lang="en-US" dirty="0"/>
          </a:p>
        </p:txBody>
      </p:sp>
      <p:pic>
        <p:nvPicPr>
          <p:cNvPr id="4098" name="Picture 2" descr="D:\OS_BCT\PCSol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918" y="1767332"/>
            <a:ext cx="6438900" cy="4748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5561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a:t>
            </a:r>
            <a:endParaRPr lang="en-US" dirty="0"/>
          </a:p>
        </p:txBody>
      </p:sp>
      <p:sp>
        <p:nvSpPr>
          <p:cNvPr id="3" name="Content Placeholder 2"/>
          <p:cNvSpPr>
            <a:spLocks noGrp="1"/>
          </p:cNvSpPr>
          <p:nvPr>
            <p:ph idx="1"/>
          </p:nvPr>
        </p:nvSpPr>
        <p:spPr/>
        <p:txBody>
          <a:bodyPr>
            <a:normAutofit/>
          </a:bodyPr>
          <a:lstStyle/>
          <a:p>
            <a:r>
              <a:rPr lang="en-US" dirty="0" smtClean="0"/>
              <a:t>A semaphore is a protected variable or abstract data type that constitutes a classic method of controlling access by several processes to a common resource in a parallel programming environment.</a:t>
            </a:r>
          </a:p>
          <a:p>
            <a:r>
              <a:rPr lang="en-US" dirty="0" smtClean="0"/>
              <a:t>It is a synchronization tool that does not require busy waiting.</a:t>
            </a:r>
          </a:p>
          <a:p>
            <a:r>
              <a:rPr lang="en-US" dirty="0" smtClean="0"/>
              <a:t>A Semaphore is a special kind of </a:t>
            </a:r>
            <a:r>
              <a:rPr lang="en-US" dirty="0"/>
              <a:t>integer </a:t>
            </a:r>
            <a:r>
              <a:rPr lang="en-US" dirty="0" smtClean="0"/>
              <a:t>variable which can be initialized and that is </a:t>
            </a:r>
            <a:r>
              <a:rPr lang="en-US" dirty="0"/>
              <a:t>used to solve the critical section problem by using two atomic operations, wait and signal that are used for process synchronization</a:t>
            </a:r>
            <a:r>
              <a:rPr lang="en-US" dirty="0" smtClean="0"/>
              <a:t>.</a:t>
            </a:r>
            <a:endParaRPr lang="en-US" dirty="0"/>
          </a:p>
        </p:txBody>
      </p:sp>
    </p:spTree>
    <p:extLst>
      <p:ext uri="{BB962C8B-B14F-4D97-AF65-F5344CB8AC3E}">
        <p14:creationId xmlns:p14="http://schemas.microsoft.com/office/powerpoint/2010/main" val="5826522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Wait/Down/P operation:</a:t>
            </a:r>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dirty="0"/>
              <a:t>wait operation decrements the value of its argument S, if it is positive. If S is negative or zero, then no operation is performed</a:t>
            </a:r>
            <a:r>
              <a:rPr lang="en-US" dirty="0" smtClean="0"/>
              <a:t>. (P stands for </a:t>
            </a:r>
            <a:r>
              <a:rPr lang="en-US" dirty="0" err="1" smtClean="0"/>
              <a:t>Proberen</a:t>
            </a:r>
            <a:r>
              <a:rPr lang="en-US" dirty="0" smtClean="0"/>
              <a:t> “to test”)</a:t>
            </a:r>
          </a:p>
          <a:p>
            <a:r>
              <a:rPr lang="en-US" dirty="0" smtClean="0"/>
              <a:t>Decrement the semaphore value. If negative, suspend the process and place in a queue.</a:t>
            </a:r>
          </a:p>
          <a:p>
            <a:r>
              <a:rPr lang="en-US" dirty="0"/>
              <a:t>wait(S</a:t>
            </a:r>
            <a:r>
              <a:rPr lang="en-US" dirty="0" smtClean="0"/>
              <a:t>):</a:t>
            </a:r>
          </a:p>
          <a:p>
            <a:pPr marL="0" indent="0">
              <a:buNone/>
            </a:pPr>
            <a:r>
              <a:rPr lang="en-US" dirty="0" smtClean="0"/>
              <a:t>	</a:t>
            </a:r>
            <a:r>
              <a:rPr lang="en-US" dirty="0"/>
              <a:t> while (S&lt;=0</a:t>
            </a:r>
            <a:r>
              <a:rPr lang="en-US" dirty="0" smtClean="0"/>
              <a:t>)</a:t>
            </a:r>
            <a:r>
              <a:rPr lang="en-US" dirty="0"/>
              <a:t> </a:t>
            </a:r>
            <a:endParaRPr lang="en-US" dirty="0" smtClean="0"/>
          </a:p>
          <a:p>
            <a:pPr marL="0" indent="0">
              <a:buNone/>
            </a:pPr>
            <a:r>
              <a:rPr lang="en-US" dirty="0"/>
              <a:t>	</a:t>
            </a:r>
            <a:r>
              <a:rPr lang="en-US" dirty="0" smtClean="0"/>
              <a:t>do </a:t>
            </a:r>
            <a:r>
              <a:rPr lang="en-US" dirty="0" err="1" smtClean="0"/>
              <a:t>no_op</a:t>
            </a:r>
            <a:r>
              <a:rPr lang="en-US" dirty="0" smtClean="0"/>
              <a:t>;</a:t>
            </a:r>
          </a:p>
          <a:p>
            <a:pPr marL="0" indent="0">
              <a:buNone/>
            </a:pPr>
            <a:r>
              <a:rPr lang="en-US" dirty="0"/>
              <a:t>	</a:t>
            </a:r>
            <a:r>
              <a:rPr lang="en-US" dirty="0" smtClean="0"/>
              <a:t>S-</a:t>
            </a:r>
            <a:r>
              <a:rPr lang="en-US" dirty="0"/>
              <a:t>-; </a:t>
            </a:r>
            <a:endParaRPr lang="en-US" dirty="0" smtClean="0"/>
          </a:p>
          <a:p>
            <a:pPr marL="0" indent="0">
              <a:buNone/>
            </a:pPr>
            <a:endParaRPr lang="en-US" dirty="0" smtClean="0"/>
          </a:p>
          <a:p>
            <a:pPr marL="0" indent="0">
              <a:buNone/>
            </a:pPr>
            <a:r>
              <a:rPr lang="en-US" dirty="0"/>
              <a:t>	</a:t>
            </a:r>
          </a:p>
        </p:txBody>
      </p:sp>
    </p:spTree>
    <p:extLst>
      <p:ext uri="{BB962C8B-B14F-4D97-AF65-F5344CB8AC3E}">
        <p14:creationId xmlns:p14="http://schemas.microsoft.com/office/powerpoint/2010/main" val="30878449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Signal/Up/V-Operation</a:t>
            </a:r>
            <a:r>
              <a:rPr lang="en-US" dirty="0"/>
              <a:t>:</a:t>
            </a:r>
            <a:br>
              <a:rPr lang="en-US" dirty="0"/>
            </a:br>
            <a:endParaRPr lang="en-US" dirty="0"/>
          </a:p>
        </p:txBody>
      </p:sp>
      <p:sp>
        <p:nvSpPr>
          <p:cNvPr id="3" name="Content Placeholder 2"/>
          <p:cNvSpPr>
            <a:spLocks noGrp="1"/>
          </p:cNvSpPr>
          <p:nvPr>
            <p:ph idx="1"/>
          </p:nvPr>
        </p:nvSpPr>
        <p:spPr/>
        <p:txBody>
          <a:bodyPr/>
          <a:lstStyle/>
          <a:p>
            <a:r>
              <a:rPr lang="en-US" dirty="0" smtClean="0"/>
              <a:t>The </a:t>
            </a:r>
            <a:r>
              <a:rPr lang="en-US" dirty="0"/>
              <a:t>signal operation increments the value of its argument </a:t>
            </a:r>
            <a:r>
              <a:rPr lang="en-US" dirty="0" smtClean="0"/>
              <a:t>S i.e. increment semaphore by 1. (V stands for </a:t>
            </a:r>
            <a:r>
              <a:rPr lang="en-US" dirty="0" err="1" smtClean="0"/>
              <a:t>Verhogen</a:t>
            </a:r>
            <a:r>
              <a:rPr lang="en-US" dirty="0" smtClean="0"/>
              <a:t> “increase”).</a:t>
            </a:r>
          </a:p>
          <a:p>
            <a:r>
              <a:rPr lang="en-US" dirty="0" smtClean="0"/>
              <a:t>Increment the semaphore value, allow the first process in the queue to continue.</a:t>
            </a:r>
            <a:endParaRPr lang="en-US" dirty="0"/>
          </a:p>
          <a:p>
            <a:r>
              <a:rPr lang="en-US" dirty="0"/>
              <a:t>signal(S</a:t>
            </a:r>
            <a:r>
              <a:rPr lang="en-US" dirty="0" smtClean="0"/>
              <a:t>):</a:t>
            </a:r>
          </a:p>
          <a:p>
            <a:pPr marL="0" indent="0">
              <a:buNone/>
            </a:pPr>
            <a:r>
              <a:rPr lang="en-US" dirty="0"/>
              <a:t>	</a:t>
            </a:r>
            <a:r>
              <a:rPr lang="en-US" dirty="0" smtClean="0"/>
              <a:t>  </a:t>
            </a:r>
            <a:r>
              <a:rPr lang="en-US" dirty="0"/>
              <a:t>   S</a:t>
            </a:r>
            <a:r>
              <a:rPr lang="en-US" dirty="0" smtClean="0"/>
              <a:t>++;</a:t>
            </a:r>
            <a:endParaRPr lang="en-US" dirty="0"/>
          </a:p>
        </p:txBody>
      </p:sp>
    </p:spTree>
    <p:extLst>
      <p:ext uri="{BB962C8B-B14F-4D97-AF65-F5344CB8AC3E}">
        <p14:creationId xmlns:p14="http://schemas.microsoft.com/office/powerpoint/2010/main" val="31030278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 Consumer Problem using Semaphore</a:t>
            </a:r>
            <a:endParaRPr lang="en-US" dirty="0"/>
          </a:p>
        </p:txBody>
      </p:sp>
      <p:pic>
        <p:nvPicPr>
          <p:cNvPr id="2050" name="Picture 2" descr="D:\OS_BCT\produc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176" y="1746504"/>
            <a:ext cx="8403336" cy="4654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1724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Consumer Problem using Semaphore</a:t>
            </a:r>
          </a:p>
        </p:txBody>
      </p:sp>
      <p:pic>
        <p:nvPicPr>
          <p:cNvPr id="3074" name="Picture 2" descr="D:\OS_BCT\Consum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9888" y="1856232"/>
            <a:ext cx="9427463" cy="3941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6545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Classical IPC Problems</a:t>
            </a:r>
            <a:endParaRPr lang="en-US" dirty="0"/>
          </a:p>
        </p:txBody>
      </p:sp>
      <p:sp>
        <p:nvSpPr>
          <p:cNvPr id="3" name="Content Placeholder 2"/>
          <p:cNvSpPr>
            <a:spLocks noGrp="1"/>
          </p:cNvSpPr>
          <p:nvPr>
            <p:ph idx="1"/>
          </p:nvPr>
        </p:nvSpPr>
        <p:spPr/>
        <p:txBody>
          <a:bodyPr/>
          <a:lstStyle/>
          <a:p>
            <a:r>
              <a:rPr lang="en-US" smtClean="0"/>
              <a:t>Some Classical IPC Problems:</a:t>
            </a:r>
            <a:endParaRPr lang="en-US" dirty="0" smtClean="0"/>
          </a:p>
          <a:p>
            <a:pPr marL="514350" indent="-514350">
              <a:buFont typeface="+mj-lt"/>
              <a:buAutoNum type="arabicPeriod"/>
            </a:pPr>
            <a:r>
              <a:rPr lang="en-US" dirty="0" smtClean="0"/>
              <a:t>Dining Philosophers Problem</a:t>
            </a:r>
          </a:p>
          <a:p>
            <a:pPr marL="514350" indent="-514350">
              <a:buFont typeface="+mj-lt"/>
              <a:buAutoNum type="arabicPeriod"/>
            </a:pPr>
            <a:r>
              <a:rPr lang="en-US" dirty="0" smtClean="0"/>
              <a:t>The Readers and Writers problem</a:t>
            </a:r>
          </a:p>
          <a:p>
            <a:pPr marL="514350" indent="-514350">
              <a:buFont typeface="+mj-lt"/>
              <a:buAutoNum type="arabicPeriod"/>
            </a:pPr>
            <a:r>
              <a:rPr lang="en-US" dirty="0" smtClean="0"/>
              <a:t>The Sleeping Barber problem</a:t>
            </a:r>
            <a:endParaRPr lang="en-US" dirty="0"/>
          </a:p>
        </p:txBody>
      </p:sp>
    </p:spTree>
    <p:extLst>
      <p:ext uri="{BB962C8B-B14F-4D97-AF65-F5344CB8AC3E}">
        <p14:creationId xmlns:p14="http://schemas.microsoft.com/office/powerpoint/2010/main" val="41095228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1755</Words>
  <Application>Microsoft Office PowerPoint</Application>
  <PresentationFormat>Custom</PresentationFormat>
  <Paragraphs>135</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Inter-process Communication (IPC)</vt:lpstr>
      <vt:lpstr>Inter-process Communication (IPC)</vt:lpstr>
      <vt:lpstr>Cooperating Processes</vt:lpstr>
      <vt:lpstr>Fundamental ways of IPC</vt:lpstr>
      <vt:lpstr>Shared Memory</vt:lpstr>
      <vt:lpstr>Message Passing</vt:lpstr>
      <vt:lpstr>Race Condition</vt:lpstr>
      <vt:lpstr>Critical Region/Section</vt:lpstr>
      <vt:lpstr>Avoiding Race Condition</vt:lpstr>
      <vt:lpstr>Rules for avoiding Race Condition/Solution to Critical Section Problem</vt:lpstr>
      <vt:lpstr>Mutual Exclusion using Critical Region</vt:lpstr>
      <vt:lpstr>Techniques for avoiding Race Condition</vt:lpstr>
      <vt:lpstr>Disabling Interrupts</vt:lpstr>
      <vt:lpstr>Lock Variables</vt:lpstr>
      <vt:lpstr>Strict Alteration/Turn Variable</vt:lpstr>
      <vt:lpstr>Strict Alteration/Turn Variable</vt:lpstr>
      <vt:lpstr>Peterson’s Solution</vt:lpstr>
      <vt:lpstr>Peterson’s Solution</vt:lpstr>
      <vt:lpstr>Peterson’s Solution</vt:lpstr>
      <vt:lpstr>Peterson’s Solution</vt:lpstr>
      <vt:lpstr>The TSL (Test and Set Lock) Instruction</vt:lpstr>
      <vt:lpstr>Problems with Mutual Exclusion</vt:lpstr>
      <vt:lpstr>Priority Inversion Problem</vt:lpstr>
      <vt:lpstr>Sleep and wakeup</vt:lpstr>
      <vt:lpstr>Producer-Consumer Problem (Bounded Buffer)</vt:lpstr>
      <vt:lpstr>Problem</vt:lpstr>
      <vt:lpstr>Producer Consumer problem with fatal Race condition</vt:lpstr>
      <vt:lpstr>Semaphore</vt:lpstr>
      <vt:lpstr>Wait/Down/P operation:</vt:lpstr>
      <vt:lpstr> Signal/Up/V-Operation: </vt:lpstr>
      <vt:lpstr>Producer Consumer Problem using Semaphore</vt:lpstr>
      <vt:lpstr>Producer Consumer Problem using Semaphore</vt:lpstr>
      <vt:lpstr>Classical IPC Problems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 Average waiting time and Turnaround time using FCFS, RR, preemptive SJF.</dc:title>
  <dc:creator>janaprakash</dc:creator>
  <cp:lastModifiedBy>DELL</cp:lastModifiedBy>
  <cp:revision>146</cp:revision>
  <dcterms:created xsi:type="dcterms:W3CDTF">2020-08-30T14:38:56Z</dcterms:created>
  <dcterms:modified xsi:type="dcterms:W3CDTF">2020-09-20T01:06:36Z</dcterms:modified>
</cp:coreProperties>
</file>