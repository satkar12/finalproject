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6" r:id="rId3"/>
    <p:sldId id="307" r:id="rId4"/>
    <p:sldId id="257" r:id="rId5"/>
    <p:sldId id="258" r:id="rId6"/>
    <p:sldId id="259" r:id="rId7"/>
    <p:sldId id="261" r:id="rId8"/>
    <p:sldId id="306" r:id="rId9"/>
    <p:sldId id="262" r:id="rId10"/>
    <p:sldId id="278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280" r:id="rId21"/>
    <p:sldId id="317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274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318" r:id="rId43"/>
    <p:sldId id="296" r:id="rId44"/>
    <p:sldId id="319" r:id="rId45"/>
    <p:sldId id="321" r:id="rId46"/>
    <p:sldId id="320" r:id="rId47"/>
    <p:sldId id="322" r:id="rId48"/>
    <p:sldId id="323" r:id="rId49"/>
    <p:sldId id="324" r:id="rId50"/>
    <p:sldId id="325" r:id="rId51"/>
    <p:sldId id="326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-994" y="5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Context model</a:t>
            </a:r>
          </a:p>
          <a:p>
            <a:r>
              <a:rPr lang="en-US" dirty="0" smtClean="0"/>
              <a:t>Behavioral models</a:t>
            </a:r>
          </a:p>
          <a:p>
            <a:r>
              <a:rPr lang="en-US" dirty="0" smtClean="0"/>
              <a:t>Data and object models</a:t>
            </a:r>
          </a:p>
          <a:p>
            <a:r>
              <a:rPr lang="en-US" dirty="0" smtClean="0"/>
              <a:t>Structured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System modeling is the process of developing abstract models of a system, with each model presenting a different view or perspective of that system.</a:t>
            </a:r>
          </a:p>
          <a:p>
            <a:pPr algn="just"/>
            <a:r>
              <a:rPr lang="en-US" dirty="0" smtClean="0"/>
              <a:t>System modeling mean representing a system using some kind of graphical notation, which is now almost always based on notations in the Unified Modeling Language (UML).</a:t>
            </a:r>
          </a:p>
          <a:p>
            <a:pPr algn="just"/>
            <a:r>
              <a:rPr lang="en-US" dirty="0" smtClean="0"/>
              <a:t>System modelling helps the analyst to understand the functionality of the system and models are used to communicate with customers.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78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Models are </a:t>
            </a:r>
            <a:r>
              <a:rPr lang="en-US" dirty="0" smtClean="0"/>
              <a:t>used:-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during </a:t>
            </a:r>
            <a:r>
              <a:rPr lang="en-US" dirty="0"/>
              <a:t>the requirements engineering process to help derive the requirements for a </a:t>
            </a:r>
            <a:r>
              <a:rPr lang="en-US" dirty="0" smtClean="0"/>
              <a:t>system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during </a:t>
            </a:r>
            <a:r>
              <a:rPr lang="en-US" dirty="0"/>
              <a:t>the design process to describe the system to engineers implementing the system and </a:t>
            </a:r>
            <a:endParaRPr lang="en-US" dirty="0" smtClean="0"/>
          </a:p>
          <a:p>
            <a:pPr algn="just">
              <a:buFont typeface="Wingdings" pitchFamily="2" charset="2"/>
              <a:buChar char="ü"/>
            </a:pPr>
            <a:r>
              <a:rPr lang="en-US" dirty="0" smtClean="0"/>
              <a:t>after </a:t>
            </a:r>
            <a:r>
              <a:rPr lang="en-US" dirty="0"/>
              <a:t>implementation to document the system’s structure and </a:t>
            </a:r>
            <a:r>
              <a:rPr lang="en-US" dirty="0" smtClean="0"/>
              <a:t>operation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3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They help clarify what the existing system does and can be used as a basis for discussing its strengths and weaknesses which can lead to requirements for the new system. </a:t>
            </a:r>
            <a:endParaRPr lang="en-US" dirty="0"/>
          </a:p>
          <a:p>
            <a:pPr algn="just"/>
            <a:r>
              <a:rPr lang="en-US" dirty="0" smtClean="0"/>
              <a:t>Models of the new system used during requirements engineering help to explain the proposed requirements to other system stakeholders [Engineers use these models to discuss design proposals and to document the system for implementation]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88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Perspectives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An external perspective, where you model the context or environment of the system.</a:t>
            </a:r>
          </a:p>
          <a:p>
            <a:pPr algn="just"/>
            <a:r>
              <a:rPr lang="en-US" dirty="0" smtClean="0"/>
              <a:t>An interaction perspective, where you model the interactions between a system and its environment, or between the components of a system.</a:t>
            </a:r>
          </a:p>
          <a:p>
            <a:pPr algn="just"/>
            <a:r>
              <a:rPr lang="en-US" dirty="0" smtClean="0"/>
              <a:t>A structural perspective, where you model the organization of a system or the structure of the data that is processed by the system.</a:t>
            </a:r>
          </a:p>
          <a:p>
            <a:pPr algn="just"/>
            <a:r>
              <a:rPr lang="en-US" dirty="0" smtClean="0"/>
              <a:t>A behavioral perspective, where you model the dynamic behavior of the system and how it responds to events.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Diagram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Activity diagrams, which show the activities involved in a process or in data processing .</a:t>
            </a:r>
          </a:p>
          <a:p>
            <a:r>
              <a:rPr lang="en-US" dirty="0" smtClean="0"/>
              <a:t>Use case diagrams, which show the interactions between a system and its environment. </a:t>
            </a:r>
            <a:endParaRPr lang="en-US" dirty="0"/>
          </a:p>
          <a:p>
            <a:r>
              <a:rPr lang="en-US" dirty="0" smtClean="0"/>
              <a:t>Sequence diagrams, which show interactions between actors and the system and between system components.</a:t>
            </a:r>
          </a:p>
          <a:p>
            <a:r>
              <a:rPr lang="en-US" dirty="0" smtClean="0"/>
              <a:t>Class diagrams, which show the object classes in the system and the associations between these classes.</a:t>
            </a:r>
          </a:p>
          <a:p>
            <a:r>
              <a:rPr lang="en-US" dirty="0" smtClean="0"/>
              <a:t>State diagrams, which show how the system reacts to internal and external events.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12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2.1 Context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Context models are used to illustrate the operational context of a system - they show what lies outside the system boundaries.</a:t>
            </a:r>
          </a:p>
          <a:p>
            <a:pPr algn="just"/>
            <a:r>
              <a:rPr lang="en-US" dirty="0" smtClean="0"/>
              <a:t>Social and organizational concerns may affect the decision on where to position system boundaries.</a:t>
            </a:r>
          </a:p>
          <a:p>
            <a:pPr algn="just"/>
            <a:r>
              <a:rPr lang="en-US" dirty="0" smtClean="0"/>
              <a:t>Context </a:t>
            </a:r>
            <a:r>
              <a:rPr lang="en-US" dirty="0"/>
              <a:t>models simply show the other systems in the environment, not how the system being developed is used in that environment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6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model-ATM System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49413"/>
            <a:ext cx="8240713" cy="490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3595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Context of MHC-PMS (Medical Health Care Patient </a:t>
            </a:r>
            <a:r>
              <a:rPr lang="en-US" dirty="0"/>
              <a:t>M</a:t>
            </a:r>
            <a:r>
              <a:rPr lang="en-US" dirty="0" smtClean="0"/>
              <a:t>anagement </a:t>
            </a:r>
            <a:r>
              <a:rPr lang="en-US" dirty="0"/>
              <a:t>S</a:t>
            </a:r>
            <a:r>
              <a:rPr lang="en-US" dirty="0" smtClean="0"/>
              <a:t>ystem)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382" y="2057400"/>
            <a:ext cx="5964382" cy="402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7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 Behavioral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Behavioral models are models of the dynamic behavior of a system as it is executing. </a:t>
            </a:r>
            <a:endParaRPr lang="en-US" dirty="0" smtClean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show what happens or what is supposed to happen when a system responds to a stimulus from its environment. </a:t>
            </a:r>
            <a:endParaRPr lang="en-US" dirty="0" smtClean="0"/>
          </a:p>
          <a:p>
            <a:pPr algn="just"/>
            <a:r>
              <a:rPr lang="en-US" dirty="0" smtClean="0"/>
              <a:t>Two </a:t>
            </a:r>
            <a:r>
              <a:rPr lang="en-US" dirty="0"/>
              <a:t>types of stimuli: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Data-&gt;Some</a:t>
            </a:r>
            <a:r>
              <a:rPr lang="en-US" dirty="0"/>
              <a:t> data arrives that has to be processed by the system.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Event-&gt;Some</a:t>
            </a:r>
            <a:r>
              <a:rPr lang="en-US" dirty="0"/>
              <a:t> event happens that triggers system processing. Events may have associated data, although this is not always the case.</a:t>
            </a:r>
          </a:p>
        </p:txBody>
      </p:sp>
    </p:spTree>
    <p:extLst>
      <p:ext uri="{BB962C8B-B14F-4D97-AF65-F5344CB8AC3E}">
        <p14:creationId xmlns:p14="http://schemas.microsoft.com/office/powerpoint/2010/main" val="216218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</a:t>
            </a:r>
            <a:r>
              <a:rPr lang="en-US" dirty="0" smtClean="0"/>
              <a:t>Models-Data Driven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Data-driven models show the sequence of actions involved in processing input data and generating the associated output.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very useful during the analysis stage since they show end-to-end processing in a system which means that they show the entire action sequence of how input data become output </a:t>
            </a:r>
            <a:r>
              <a:rPr lang="en-US" dirty="0" smtClean="0"/>
              <a:t>data</a:t>
            </a:r>
            <a:r>
              <a:rPr lang="en-US" dirty="0"/>
              <a:t> </a:t>
            </a:r>
            <a:r>
              <a:rPr lang="en-US" dirty="0" smtClean="0"/>
              <a:t>i.e. it </a:t>
            </a:r>
            <a:r>
              <a:rPr lang="en-US" dirty="0"/>
              <a:t>shows the response of the system to particular input</a:t>
            </a:r>
            <a:r>
              <a:rPr lang="en-US" dirty="0" smtClean="0"/>
              <a:t>.</a:t>
            </a:r>
          </a:p>
          <a:p>
            <a:r>
              <a:rPr lang="en-US" dirty="0"/>
              <a:t>In UML, activity and sequence diagrams can be used to describe such data flows. </a:t>
            </a:r>
          </a:p>
        </p:txBody>
      </p:sp>
    </p:spTree>
    <p:extLst>
      <p:ext uri="{BB962C8B-B14F-4D97-AF65-F5344CB8AC3E}">
        <p14:creationId xmlns:p14="http://schemas.microsoft.com/office/powerpoint/2010/main" val="226937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</a:t>
            </a:r>
            <a:r>
              <a:rPr lang="en-US" dirty="0" smtClean="0"/>
              <a:t>Models-Event </a:t>
            </a:r>
            <a:r>
              <a:rPr lang="en-US" dirty="0"/>
              <a:t>Driven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Event-driven modeling shows how a system responds to external and internal events (stimuli</a:t>
            </a:r>
            <a:r>
              <a:rPr lang="en-US" dirty="0" smtClean="0"/>
              <a:t>) 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based on the assumption that a system has a finite number of states and that an event (stimulus) may cause a transition from one state to </a:t>
            </a:r>
            <a:r>
              <a:rPr lang="en-US" dirty="0" smtClean="0"/>
              <a:t>another</a:t>
            </a:r>
            <a:endParaRPr lang="en-US" dirty="0"/>
          </a:p>
          <a:p>
            <a:pPr algn="just"/>
            <a:r>
              <a:rPr lang="en-US" dirty="0"/>
              <a:t>The UML supports event-based modeling using </a:t>
            </a:r>
            <a:r>
              <a:rPr lang="en-US" i="1" dirty="0"/>
              <a:t>state machine diagrams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8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Data modeling in software engineering is the process of creating a data model for an information system by applying certain formal techniques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is used </a:t>
            </a:r>
            <a:r>
              <a:rPr lang="en-US" dirty="0"/>
              <a:t>to define and analyze data requirements needed to support the business processes within the scope of corresponding information systems in organizations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UML diagrams, ER-diagram, Data flow diagram assists data modeling.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91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data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assist in understanding </a:t>
            </a:r>
            <a:r>
              <a:rPr lang="en-US" dirty="0"/>
              <a:t>and use an agreed upon semi-formal model that encompasses the concepts of the organization and how they relate to one another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manage data as a resource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integrate information systems</a:t>
            </a:r>
          </a:p>
          <a:p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design databases/data warehouses (aka data repositories)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01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Object models describe the system in terms of object classes and their associations. </a:t>
            </a:r>
          </a:p>
          <a:p>
            <a:pPr algn="just"/>
            <a:r>
              <a:rPr lang="en-US" dirty="0" smtClean="0"/>
              <a:t>An object class is an abstraction over a set of objects with common attributes and the services (operations) provided by each object.</a:t>
            </a:r>
          </a:p>
          <a:p>
            <a:pPr algn="just"/>
            <a:r>
              <a:rPr lang="en-US" dirty="0" smtClean="0"/>
              <a:t>An object data model provides support for objects as the basis for modeling in a database application.</a:t>
            </a:r>
          </a:p>
          <a:p>
            <a:pPr algn="just"/>
            <a:r>
              <a:rPr lang="fr-FR" dirty="0" smtClean="0"/>
              <a:t>Various Object model may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produced</a:t>
            </a:r>
            <a:r>
              <a:rPr lang="fr-FR" dirty="0" smtClean="0"/>
              <a:t>: 1. </a:t>
            </a:r>
            <a:r>
              <a:rPr lang="fr-FR" dirty="0" err="1" smtClean="0"/>
              <a:t>Inheritance</a:t>
            </a:r>
            <a:r>
              <a:rPr lang="fr-FR" dirty="0" smtClean="0"/>
              <a:t> model, 2. </a:t>
            </a:r>
            <a:r>
              <a:rPr lang="fr-FR" dirty="0" err="1" smtClean="0"/>
              <a:t>Aggregation</a:t>
            </a:r>
            <a:r>
              <a:rPr lang="fr-FR" dirty="0" smtClean="0"/>
              <a:t> model,  3. Interaction model.</a:t>
            </a:r>
            <a:endParaRPr lang="en-US" dirty="0" smtClean="0"/>
          </a:p>
          <a:p>
            <a:pPr algn="just"/>
            <a:r>
              <a:rPr lang="en-US" dirty="0" smtClean="0"/>
              <a:t>Object-diagram assists  object modeling.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169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An </a:t>
            </a:r>
            <a:r>
              <a:rPr lang="en-US" dirty="0"/>
              <a:t>object is an instance of a class, which is a complex type specification that defines both the state of its instance fields and the behavior provided by its methods. </a:t>
            </a:r>
            <a:endParaRPr lang="en-US" dirty="0" smtClean="0"/>
          </a:p>
          <a:p>
            <a:pPr algn="just"/>
            <a:r>
              <a:rPr lang="en-US" dirty="0" smtClean="0"/>
              <a:t>Object </a:t>
            </a:r>
            <a:r>
              <a:rPr lang="en-US" dirty="0"/>
              <a:t>features also include a unique object identifier that can be used to refer to the object, as well as the organization of data into class hierarchies that support inheritance of state and behavior. </a:t>
            </a:r>
            <a:endParaRPr lang="en-US" dirty="0" smtClean="0"/>
          </a:p>
          <a:p>
            <a:pPr algn="just"/>
            <a:r>
              <a:rPr lang="en-US" dirty="0" smtClean="0"/>
              <a:t>Object </a:t>
            </a:r>
            <a:r>
              <a:rPr lang="en-US" dirty="0"/>
              <a:t>data model encompasses the data model for both object-oriented </a:t>
            </a:r>
            <a:r>
              <a:rPr lang="en-US" dirty="0" smtClean="0"/>
              <a:t>databases and </a:t>
            </a:r>
            <a:r>
              <a:rPr lang="en-US" dirty="0"/>
              <a:t>object-relational </a:t>
            </a:r>
            <a:r>
              <a:rPr lang="en-US" dirty="0" smtClean="0"/>
              <a:t>databases.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292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Structured methods were invented </a:t>
            </a:r>
            <a:r>
              <a:rPr lang="en-US" dirty="0" smtClean="0"/>
              <a:t>to </a:t>
            </a:r>
            <a:r>
              <a:rPr lang="en-US" dirty="0"/>
              <a:t>support </a:t>
            </a:r>
            <a:r>
              <a:rPr lang="en-US" dirty="0" smtClean="0"/>
              <a:t>function-oriented design</a:t>
            </a:r>
          </a:p>
          <a:p>
            <a:pPr algn="just"/>
            <a:r>
              <a:rPr lang="en-US" dirty="0" smtClean="0"/>
              <a:t>Structured </a:t>
            </a:r>
            <a:r>
              <a:rPr lang="en-US" dirty="0"/>
              <a:t>‘methods’ are really standard notations and embodiments of good practice. </a:t>
            </a:r>
            <a:endParaRPr lang="en-US" dirty="0" smtClean="0"/>
          </a:p>
          <a:p>
            <a:pPr algn="just"/>
            <a:r>
              <a:rPr lang="en-US" dirty="0" smtClean="0"/>
              <a:t>Following </a:t>
            </a:r>
            <a:r>
              <a:rPr lang="en-US" dirty="0"/>
              <a:t>these methods and applying the guidelines can result in a reasonable design. </a:t>
            </a:r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structured method includes a design process model, notations to represent the design, report formats, rules and design guidelines. </a:t>
            </a:r>
            <a:endParaRPr lang="en-US" dirty="0" smtClean="0"/>
          </a:p>
          <a:p>
            <a:pPr algn="just"/>
            <a:r>
              <a:rPr lang="en-US" dirty="0" smtClean="0"/>
              <a:t>Structured </a:t>
            </a:r>
            <a:r>
              <a:rPr lang="en-US" dirty="0"/>
              <a:t>methods may support some or all of the following models of a </a:t>
            </a:r>
            <a:r>
              <a:rPr lang="en-US" dirty="0" smtClean="0"/>
              <a:t>system:-(next slide)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69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An object model that shows the object classes used in the system and their dependencies.</a:t>
            </a:r>
          </a:p>
          <a:p>
            <a:pPr algn="just"/>
            <a:r>
              <a:rPr lang="en-US" dirty="0"/>
              <a:t>A sequence model that shows how objects in the system interact when the system is executing.</a:t>
            </a:r>
          </a:p>
          <a:p>
            <a:pPr algn="just"/>
            <a:r>
              <a:rPr lang="en-US" dirty="0"/>
              <a:t>A state transition model that shows  system states and the triggers for the transitions from one state to another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82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structural model where the system components and their aggregations are documented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 </a:t>
            </a:r>
            <a:r>
              <a:rPr lang="en-US" dirty="0"/>
              <a:t>data flow model where the system is modeled using the data transformations that take place as it is processed [frequently used in real-time and business system design also]</a:t>
            </a:r>
          </a:p>
          <a:p>
            <a:pPr algn="just"/>
            <a:r>
              <a:rPr lang="en-US" dirty="0"/>
              <a:t>A use-case model that shows the interactions between users and the system.</a:t>
            </a:r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smtClean="0"/>
              <a:t>The </a:t>
            </a:r>
            <a:r>
              <a:rPr lang="en-US" dirty="0"/>
              <a:t>unification of different structured methods for object oriented design led to the development of </a:t>
            </a:r>
            <a:r>
              <a:rPr lang="en-US" dirty="0" smtClean="0"/>
              <a:t>the UML]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218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Modeling Diagrams</a:t>
            </a:r>
            <a:endParaRPr lang="en-US" dirty="0"/>
          </a:p>
        </p:txBody>
      </p:sp>
      <p:pic>
        <p:nvPicPr>
          <p:cNvPr id="1026" name="Picture 2" descr="All 14 UMl diagram types categorized into behavioral and structural UM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52600"/>
            <a:ext cx="6400800" cy="474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46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Structure diagrams show the things in the modeled system. In a more technical term, they show different objects in a system. </a:t>
            </a:r>
            <a:endParaRPr lang="en-US" dirty="0" smtClean="0"/>
          </a:p>
          <a:p>
            <a:pPr algn="just"/>
            <a:r>
              <a:rPr lang="en-US" dirty="0" smtClean="0"/>
              <a:t>Behavioral </a:t>
            </a:r>
            <a:r>
              <a:rPr lang="en-US" dirty="0"/>
              <a:t>diagrams show what should happen in a system. They describe how the objects interact with each other to create a functioning system.</a:t>
            </a:r>
          </a:p>
        </p:txBody>
      </p:sp>
    </p:spTree>
    <p:extLst>
      <p:ext uri="{BB962C8B-B14F-4D97-AF65-F5344CB8AC3E}">
        <p14:creationId xmlns:p14="http://schemas.microsoft.com/office/powerpoint/2010/main" val="152661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Use cases</a:t>
            </a:r>
            <a:r>
              <a:rPr lang="en-US" dirty="0"/>
              <a:t> were developed originally to support requirements elicitation and now incorporated into the UML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Each </a:t>
            </a:r>
            <a:r>
              <a:rPr lang="en-US" dirty="0"/>
              <a:t>use case represents a discrete task that involves external interaction with a </a:t>
            </a:r>
            <a:r>
              <a:rPr lang="en-US" dirty="0" smtClean="0"/>
              <a:t>system.</a:t>
            </a:r>
          </a:p>
          <a:p>
            <a:pPr algn="just"/>
            <a:r>
              <a:rPr lang="en-US" dirty="0" smtClean="0"/>
              <a:t>Actors </a:t>
            </a:r>
            <a:r>
              <a:rPr lang="en-US" dirty="0"/>
              <a:t>in a use case may be people or other systems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Use </a:t>
            </a:r>
            <a:r>
              <a:rPr lang="en-US" dirty="0"/>
              <a:t>cases can be represented using a UML use case diagram and in a more detailed textual/tabular format.</a:t>
            </a:r>
          </a:p>
        </p:txBody>
      </p:sp>
    </p:spTree>
    <p:extLst>
      <p:ext uri="{BB962C8B-B14F-4D97-AF65-F5344CB8AC3E}">
        <p14:creationId xmlns:p14="http://schemas.microsoft.com/office/powerpoint/2010/main" val="2578547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Use Case for MHC-PMS</a:t>
            </a:r>
            <a:endParaRPr lang="en-US" dirty="0"/>
          </a:p>
        </p:txBody>
      </p:sp>
      <p:pic>
        <p:nvPicPr>
          <p:cNvPr id="2050" name="Picture 2" descr="https://cs.ccsu.edu/~stan/classes/CS410/Notes16/images/05-simple_UC_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237" y="3074267"/>
            <a:ext cx="481099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544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 Case Description (in tabular format)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07339"/>
              </p:ext>
            </p:extLst>
          </p:nvPr>
        </p:nvGraphicFramePr>
        <p:xfrm>
          <a:off x="706581" y="1825625"/>
          <a:ext cx="7169728" cy="4351338"/>
        </p:xfrm>
        <a:graphic>
          <a:graphicData uri="http://schemas.openxmlformats.org/drawingml/2006/table">
            <a:tbl>
              <a:tblPr/>
              <a:tblGrid>
                <a:gridCol w="1742561">
                  <a:extLst>
                    <a:ext uri="{9D8B030D-6E8A-4147-A177-3AD203B41FA5}">
                      <a16:colId xmlns="" xmlns:a16="http://schemas.microsoft.com/office/drawing/2014/main" val="4006758364"/>
                    </a:ext>
                  </a:extLst>
                </a:gridCol>
                <a:gridCol w="5427167">
                  <a:extLst>
                    <a:ext uri="{9D8B030D-6E8A-4147-A177-3AD203B41FA5}">
                      <a16:colId xmlns="" xmlns:a16="http://schemas.microsoft.com/office/drawing/2014/main" val="819357238"/>
                    </a:ext>
                  </a:extLst>
                </a:gridCol>
              </a:tblGrid>
              <a:tr h="19844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Use case title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Transfer data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3642072"/>
                  </a:ext>
                </a:extLst>
              </a:tr>
              <a:tr h="1069684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 receptionist may transfer data from the MHC-PMS to a general patient record database that is maintained by a health authority. The information transferred may either be updated personal information (address, phone number, etc.) or a summary of the patient's diagnosis and treatment.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6495980"/>
                  </a:ext>
                </a:extLst>
              </a:tr>
              <a:tr h="19844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Actor(s)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Medical receptionist, patient records system (PRS)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49520967"/>
                  </a:ext>
                </a:extLst>
              </a:tr>
              <a:tr h="89543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Preconditions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Patient data has been collected (personal information, treatment summary);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The receptionist must have appropriate security permissions to access the patient information and the PRS.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298060743"/>
                  </a:ext>
                </a:extLst>
              </a:tr>
              <a:tr h="19844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Postconditions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PRS has been updated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95939707"/>
                  </a:ext>
                </a:extLst>
              </a:tr>
              <a:tr h="1069684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Main success scenario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 Receptionist selects the "Transfer data" option from the menu.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2. PRS verifies the security credentials of the receptionist.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3. Data is transferred.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4. PRS has been updated.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18028981"/>
                  </a:ext>
                </a:extLst>
              </a:tr>
              <a:tr h="721189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Extensions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2a. The receptionist does not have the necessary security credentials.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2a.1. An error message is displayed.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2a.2. The receptionist backs out of the use case.</a:t>
                      </a:r>
                    </a:p>
                  </a:txBody>
                  <a:tcPr marL="9075" marR="9075" marT="12100" marB="12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25041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839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Diagram for ATM</a:t>
            </a:r>
            <a:endParaRPr lang="en-US" dirty="0"/>
          </a:p>
        </p:txBody>
      </p:sp>
      <p:pic>
        <p:nvPicPr>
          <p:cNvPr id="5122" name="Picture 2" descr="Bank ATM Use Cases Example for Customer and ATM Technicia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61309"/>
            <a:ext cx="6120245" cy="437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34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UML </a:t>
            </a:r>
            <a:r>
              <a:rPr lang="en-US" b="1" dirty="0"/>
              <a:t>sequence diagrams</a:t>
            </a:r>
            <a:r>
              <a:rPr lang="en-US" dirty="0"/>
              <a:t> are used to model the interactions between the actors and the objects within a </a:t>
            </a:r>
            <a:r>
              <a:rPr lang="en-US" dirty="0" smtClean="0"/>
              <a:t>system.</a:t>
            </a:r>
          </a:p>
          <a:p>
            <a:r>
              <a:rPr lang="en-US" dirty="0" smtClean="0"/>
              <a:t>A </a:t>
            </a:r>
            <a:r>
              <a:rPr lang="en-US" dirty="0"/>
              <a:t>sequence diagram shows the sequence of interactions that take place during a particular use case or use case </a:t>
            </a:r>
            <a:r>
              <a:rPr lang="en-US" dirty="0" smtClean="0"/>
              <a:t>instance.</a:t>
            </a:r>
          </a:p>
          <a:p>
            <a:r>
              <a:rPr lang="en-US" dirty="0" smtClean="0"/>
              <a:t>The </a:t>
            </a:r>
            <a:r>
              <a:rPr lang="en-US" dirty="0"/>
              <a:t>objects and actors involved are listed along the top of the diagram, with a dotted line drawn vertically from </a:t>
            </a:r>
            <a:r>
              <a:rPr lang="en-US" dirty="0" smtClean="0"/>
              <a:t>these.</a:t>
            </a:r>
          </a:p>
          <a:p>
            <a:r>
              <a:rPr lang="en-US" dirty="0" smtClean="0"/>
              <a:t>Interactions </a:t>
            </a:r>
            <a:r>
              <a:rPr lang="en-US" dirty="0"/>
              <a:t>between objects are indicated by annotated arrows.</a:t>
            </a:r>
          </a:p>
        </p:txBody>
      </p:sp>
    </p:spTree>
    <p:extLst>
      <p:ext uri="{BB962C8B-B14F-4D97-AF65-F5344CB8AC3E}">
        <p14:creationId xmlns:p14="http://schemas.microsoft.com/office/powerpoint/2010/main" val="998626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Sequence diagram for View patient information</a:t>
            </a:r>
          </a:p>
        </p:txBody>
      </p:sp>
      <p:pic>
        <p:nvPicPr>
          <p:cNvPr id="7170" name="Picture 2" descr="https://cs.ccsu.edu/~stan/classes/CS410/Notes16/images/05-simple_activity_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855" y="1911498"/>
            <a:ext cx="4950619" cy="447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194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</a:t>
            </a:r>
            <a:r>
              <a:rPr lang="en-US" dirty="0" smtClean="0"/>
              <a:t>Diagram for ATM System</a:t>
            </a:r>
            <a:endParaRPr lang="en-US" dirty="0"/>
          </a:p>
        </p:txBody>
      </p:sp>
      <p:pic>
        <p:nvPicPr>
          <p:cNvPr id="6148" name="Picture 4" descr="Sequence Diagra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954" y="2071256"/>
            <a:ext cx="6161809" cy="428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060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Structural models of software display the organization of a system in terms of the components that make up that system and their </a:t>
            </a:r>
            <a:r>
              <a:rPr lang="en-US" sz="2800" dirty="0" smtClean="0"/>
              <a:t>relationships.</a:t>
            </a:r>
          </a:p>
          <a:p>
            <a:pPr algn="just"/>
            <a:r>
              <a:rPr lang="en-US" sz="2800" dirty="0" smtClean="0"/>
              <a:t>Structural </a:t>
            </a:r>
            <a:r>
              <a:rPr lang="en-US" sz="2800" dirty="0"/>
              <a:t>models may be static models, which show the structure of the system design, or dynamic models, which show the organization of the system when it is </a:t>
            </a:r>
            <a:r>
              <a:rPr lang="en-US" sz="2800" dirty="0" smtClean="0"/>
              <a:t>executing.</a:t>
            </a:r>
          </a:p>
          <a:p>
            <a:pPr algn="just"/>
            <a:r>
              <a:rPr lang="en-US" sz="2800" dirty="0" smtClean="0"/>
              <a:t>You </a:t>
            </a:r>
            <a:r>
              <a:rPr lang="en-US" sz="2800" dirty="0"/>
              <a:t>create structural models of a system when you are discussing and designing the system architecture. </a:t>
            </a:r>
          </a:p>
        </p:txBody>
      </p:sp>
    </p:spTree>
    <p:extLst>
      <p:ext uri="{BB962C8B-B14F-4D97-AF65-F5344CB8AC3E}">
        <p14:creationId xmlns:p14="http://schemas.microsoft.com/office/powerpoint/2010/main" val="4129590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Class diagrams are the main building block of any object-oriented solution.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shows the classes in a system, attributes, and operations of each class and the relationship between each class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 A class </a:t>
            </a:r>
            <a:r>
              <a:rPr lang="en-US" dirty="0"/>
              <a:t>has three </a:t>
            </a:r>
            <a:r>
              <a:rPr lang="en-US" dirty="0" smtClean="0"/>
              <a:t>parts, </a:t>
            </a:r>
            <a:r>
              <a:rPr lang="en-US" dirty="0"/>
              <a:t>Name at the top, attributes in the middle and operations or methods at the bottom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a large system with many related classes, classes are grouped together to create class diagrams. </a:t>
            </a:r>
            <a:endParaRPr lang="en-US" dirty="0" smtClean="0"/>
          </a:p>
          <a:p>
            <a:pPr algn="just"/>
            <a:r>
              <a:rPr lang="en-US" dirty="0" smtClean="0"/>
              <a:t>Different </a:t>
            </a:r>
            <a:r>
              <a:rPr lang="en-US" dirty="0"/>
              <a:t>relationships between classes are shown by different types of arrows.</a:t>
            </a:r>
          </a:p>
        </p:txBody>
      </p:sp>
    </p:spTree>
    <p:extLst>
      <p:ext uri="{BB962C8B-B14F-4D97-AF65-F5344CB8AC3E}">
        <p14:creationId xmlns:p14="http://schemas.microsoft.com/office/powerpoint/2010/main" val="164649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2050" name="Picture 2" descr="Class diagram, the most popular UML diagram ty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8" y="1706880"/>
            <a:ext cx="733425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15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</a:t>
            </a:r>
            <a:r>
              <a:rPr lang="en-US" dirty="0"/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component diagram displays the structural </a:t>
            </a:r>
            <a:r>
              <a:rPr lang="en-US" dirty="0" smtClean="0"/>
              <a:t>relationship </a:t>
            </a:r>
            <a:r>
              <a:rPr lang="en-US" dirty="0"/>
              <a:t>of components of a software system.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are mostly used when working with complex systems with many components. Components communicate with each other using interfaces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interfaces are linked using connectors. </a:t>
            </a:r>
          </a:p>
        </p:txBody>
      </p:sp>
    </p:spTree>
    <p:extLst>
      <p:ext uri="{BB962C8B-B14F-4D97-AF65-F5344CB8AC3E}">
        <p14:creationId xmlns:p14="http://schemas.microsoft.com/office/powerpoint/2010/main" val="208644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Diagram</a:t>
            </a:r>
            <a:endParaRPr lang="en-US" dirty="0"/>
          </a:p>
        </p:txBody>
      </p:sp>
      <p:pic>
        <p:nvPicPr>
          <p:cNvPr id="3074" name="Picture 2" descr="Component diagram template with explan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334250" cy="472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02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Object Diagrams, sometimes referred to as Instance diagrams are very similar to class diagrams. </a:t>
            </a:r>
            <a:endParaRPr lang="en-US" dirty="0" smtClean="0"/>
          </a:p>
          <a:p>
            <a:pPr algn="just"/>
            <a:r>
              <a:rPr lang="en-US" dirty="0" smtClean="0"/>
              <a:t>Like </a:t>
            </a:r>
            <a:r>
              <a:rPr lang="en-US" dirty="0"/>
              <a:t>class diagrams, they also show the relationship between objects but they use real-world examples.</a:t>
            </a:r>
          </a:p>
          <a:p>
            <a:pPr algn="just"/>
            <a:r>
              <a:rPr lang="en-US" dirty="0"/>
              <a:t>They show how a system will look like at a given time. </a:t>
            </a:r>
            <a:endParaRPr lang="en-US" dirty="0" smtClean="0"/>
          </a:p>
          <a:p>
            <a:pPr algn="just"/>
            <a:r>
              <a:rPr lang="en-US" dirty="0" smtClean="0"/>
              <a:t>There </a:t>
            </a:r>
            <a:r>
              <a:rPr lang="en-US" dirty="0"/>
              <a:t>is data available in the </a:t>
            </a:r>
            <a:r>
              <a:rPr lang="en-US" dirty="0" smtClean="0"/>
              <a:t>objects so </a:t>
            </a:r>
            <a:r>
              <a:rPr lang="en-US" dirty="0"/>
              <a:t>they are used to explain complex relationships between objects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72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Diagram</a:t>
            </a:r>
            <a:endParaRPr lang="en-US" dirty="0"/>
          </a:p>
        </p:txBody>
      </p:sp>
      <p:pic>
        <p:nvPicPr>
          <p:cNvPr id="4098" name="Picture 2" descr="Object diagram tem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828800"/>
            <a:ext cx="733425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88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Use </a:t>
            </a:r>
            <a:r>
              <a:rPr lang="en-US" dirty="0"/>
              <a:t>case diagrams give a graphic overview of the actors involved in a system, different functions needed by those actors and how these different functions interact.</a:t>
            </a:r>
          </a:p>
          <a:p>
            <a:pPr algn="just"/>
            <a:r>
              <a:rPr lang="en-US" dirty="0"/>
              <a:t>It’s a great starting point for any project discussion because you can easily identify the main actors involved and the main processes of the system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2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se case diagram drawing using Create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90549"/>
            <a:ext cx="7620000" cy="565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72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diagrams represent workflows in a graphical way.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can be used to describe the business workflow or the operational workflow of any component in a system. </a:t>
            </a:r>
            <a:endParaRPr lang="en-US" dirty="0" smtClean="0"/>
          </a:p>
          <a:p>
            <a:r>
              <a:rPr lang="en-US" dirty="0" smtClean="0"/>
              <a:t>Sometimes</a:t>
            </a:r>
            <a:r>
              <a:rPr lang="en-US" dirty="0"/>
              <a:t> activity diagrams are used as an alternative to State machine </a:t>
            </a:r>
            <a:r>
              <a:rPr lang="en-US" dirty="0" smtClean="0"/>
              <a:t>diagrams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917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Diagram</a:t>
            </a:r>
            <a:endParaRPr lang="en-US" dirty="0"/>
          </a:p>
        </p:txBody>
      </p:sp>
      <p:pic>
        <p:nvPicPr>
          <p:cNvPr id="6146" name="Picture 2" descr="Activity diagram drawn using Createl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7334250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89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State </a:t>
            </a:r>
            <a:r>
              <a:rPr lang="en-US" dirty="0"/>
              <a:t>Machine Diagram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State </a:t>
            </a:r>
            <a:r>
              <a:rPr lang="en-US" dirty="0"/>
              <a:t>machine diagrams are similar to activity diagrams, although notations and usage change a bit.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are sometimes known as state diagrams or state chart diagrams as well.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are very useful to describe the behavior of objects that act differently according to the state they are in at the moment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5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State Machine Diagram</a:t>
            </a:r>
            <a:br>
              <a:rPr lang="en-US" dirty="0"/>
            </a:br>
            <a:endParaRPr lang="en-US" dirty="0"/>
          </a:p>
        </p:txBody>
      </p:sp>
      <p:pic>
        <p:nvPicPr>
          <p:cNvPr id="7170" name="Picture 2" descr="State machine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57399"/>
            <a:ext cx="7343775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94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 (DFD)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 </a:t>
            </a:r>
            <a:r>
              <a:rPr lang="en-US" dirty="0" smtClean="0"/>
              <a:t>DFD</a:t>
            </a:r>
            <a:r>
              <a:rPr lang="en-US" dirty="0"/>
              <a:t> is a way of representing a flow of data through a process or a system (usually an information system).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DFD also provides information about the outputs and inputs of each entity and the process itself. </a:t>
            </a:r>
            <a:endParaRPr lang="en-US" dirty="0" smtClean="0"/>
          </a:p>
          <a:p>
            <a:pPr algn="just"/>
            <a:r>
              <a:rPr lang="en-US" dirty="0" smtClean="0"/>
              <a:t>It has </a:t>
            </a:r>
            <a:r>
              <a:rPr lang="en-US" dirty="0"/>
              <a:t>no control flow, there are no decision rules and no loops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4156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Also known as bubble chart</a:t>
            </a:r>
          </a:p>
          <a:p>
            <a:r>
              <a:rPr lang="en-US" dirty="0" smtClean="0"/>
              <a:t>DFDs </a:t>
            </a:r>
            <a:r>
              <a:rPr lang="en-US" dirty="0"/>
              <a:t>may be partitioned into levels that represent increasing information flow and functional detail. </a:t>
            </a:r>
            <a:endParaRPr lang="en-US" dirty="0" smtClean="0"/>
          </a:p>
          <a:p>
            <a:r>
              <a:rPr lang="en-US" dirty="0" smtClean="0"/>
              <a:t>Levels </a:t>
            </a:r>
            <a:r>
              <a:rPr lang="en-US" dirty="0"/>
              <a:t>in DFD are numbered 0, 1, 2 or beyond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887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0-Level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It is also known as fundamental system model, or context diagram represents the entire software requirement as a single bubble with input and output data denoted by incoming and outgoing arrows. </a:t>
            </a:r>
            <a:endParaRPr lang="en-US" dirty="0" smtClean="0"/>
          </a:p>
          <a:p>
            <a:pPr algn="just"/>
            <a:r>
              <a:rPr lang="en-US" dirty="0" smtClean="0"/>
              <a:t>Then </a:t>
            </a:r>
            <a:r>
              <a:rPr lang="en-US" dirty="0"/>
              <a:t>the system is decomposed and described as a DFD with multiple bubbles. </a:t>
            </a:r>
            <a:endParaRPr lang="en-US" dirty="0" smtClean="0"/>
          </a:p>
          <a:p>
            <a:pPr algn="just"/>
            <a:r>
              <a:rPr lang="en-US" dirty="0" smtClean="0"/>
              <a:t>Parts </a:t>
            </a:r>
            <a:r>
              <a:rPr lang="en-US" dirty="0"/>
              <a:t>of the system represented by each of these bubbles are then decomposed and documented as more and more detailed DFDs.</a:t>
            </a:r>
          </a:p>
        </p:txBody>
      </p:sp>
    </p:spTree>
    <p:extLst>
      <p:ext uri="{BB962C8B-B14F-4D97-AF65-F5344CB8AC3E}">
        <p14:creationId xmlns:p14="http://schemas.microsoft.com/office/powerpoint/2010/main" val="2198175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0-level</a:t>
            </a:r>
            <a:endParaRPr lang="en-US" dirty="0"/>
          </a:p>
        </p:txBody>
      </p:sp>
      <p:pic>
        <p:nvPicPr>
          <p:cNvPr id="2050" name="Picture 2" descr="Data Flow Diagra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0"/>
            <a:ext cx="254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ata Flow Diag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545" y="1390650"/>
            <a:ext cx="5715000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187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1-level DFD, a context diagram is decomposed into multiple bubbles/processes. In this level, we highlight the main objectives of the system and breakdown the high-level process of 0-level DFD into </a:t>
            </a:r>
            <a:r>
              <a:rPr lang="en-US" dirty="0" err="1"/>
              <a:t>subprocesses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7514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ta Flow Diagra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33400"/>
            <a:ext cx="7086600" cy="547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120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2-level DFD goes one process deeper into parts of 1-level DFD. It can be used to project or record the specific/necessary detail about the system's functioning.</a:t>
            </a:r>
          </a:p>
        </p:txBody>
      </p:sp>
    </p:spTree>
    <p:extLst>
      <p:ext uri="{BB962C8B-B14F-4D97-AF65-F5344CB8AC3E}">
        <p14:creationId xmlns:p14="http://schemas.microsoft.com/office/powerpoint/2010/main" val="1256009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ata Flow Diagra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"/>
            <a:ext cx="44196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ata Flow Diag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0500"/>
            <a:ext cx="4248912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Data Flow Diagram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41148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Data Flow Diagram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294888"/>
            <a:ext cx="4191000" cy="325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7140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ata Flow Diagra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71628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ata Flow Diag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10000"/>
            <a:ext cx="7162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9844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system modeling. Explain different perspective of system.</a:t>
            </a:r>
          </a:p>
          <a:p>
            <a:r>
              <a:rPr lang="en-US" dirty="0" smtClean="0"/>
              <a:t>What are different models used in system modeling? Explain with examples of each.</a:t>
            </a:r>
          </a:p>
          <a:p>
            <a:r>
              <a:rPr lang="en-US" dirty="0" smtClean="0"/>
              <a:t>Explain </a:t>
            </a:r>
            <a:r>
              <a:rPr lang="en-US" smtClean="0"/>
              <a:t>different levels (0 and 1) of DFD </a:t>
            </a:r>
            <a:r>
              <a:rPr lang="en-US" dirty="0" smtClean="0"/>
              <a:t>with example.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16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1676</Words>
  <Application>Microsoft Office PowerPoint</Application>
  <PresentationFormat>On-screen Show (4:3)</PresentationFormat>
  <Paragraphs>171</Paragraphs>
  <Slides>51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System models</vt:lpstr>
      <vt:lpstr>System Modeling</vt:lpstr>
      <vt:lpstr>System Modeling</vt:lpstr>
      <vt:lpstr>System Modeling</vt:lpstr>
      <vt:lpstr>System Perspectives</vt:lpstr>
      <vt:lpstr>UML Diagram Types</vt:lpstr>
      <vt:lpstr>2.1 Context Models</vt:lpstr>
      <vt:lpstr>Context model-ATM System</vt:lpstr>
      <vt:lpstr>Context of MHC-PMS (Medical Health Care Patient Management System)</vt:lpstr>
      <vt:lpstr>2.2 Behavioral Models</vt:lpstr>
      <vt:lpstr>Behavioral Models-Data Driven</vt:lpstr>
      <vt:lpstr>Behavioral Models-Event Driven</vt:lpstr>
      <vt:lpstr>Data Model</vt:lpstr>
      <vt:lpstr>Uses of data model</vt:lpstr>
      <vt:lpstr>Object Models</vt:lpstr>
      <vt:lpstr>Object Model</vt:lpstr>
      <vt:lpstr>Structured methods</vt:lpstr>
      <vt:lpstr>Structured Methods</vt:lpstr>
      <vt:lpstr>Structured Methods</vt:lpstr>
      <vt:lpstr>UML Modeling Diagrams</vt:lpstr>
      <vt:lpstr>UML Diagrams</vt:lpstr>
      <vt:lpstr>Use Case Modeling</vt:lpstr>
      <vt:lpstr>Simple Use Case for MHC-PMS</vt:lpstr>
      <vt:lpstr>Use Case Description (in tabular format)</vt:lpstr>
      <vt:lpstr>Use Case Diagram for ATM</vt:lpstr>
      <vt:lpstr>Sequence Diagrams</vt:lpstr>
      <vt:lpstr>Sequence diagram for View patient information</vt:lpstr>
      <vt:lpstr>Sequence Diagram for ATM System</vt:lpstr>
      <vt:lpstr>Structural models</vt:lpstr>
      <vt:lpstr>Class Diagrams</vt:lpstr>
      <vt:lpstr>Class Diagram</vt:lpstr>
      <vt:lpstr>Component diagram</vt:lpstr>
      <vt:lpstr>Component Diagram</vt:lpstr>
      <vt:lpstr>Object Diagrams</vt:lpstr>
      <vt:lpstr>Object Diagram</vt:lpstr>
      <vt:lpstr>Use case diagram</vt:lpstr>
      <vt:lpstr>PowerPoint Presentation</vt:lpstr>
      <vt:lpstr>Activity diagram</vt:lpstr>
      <vt:lpstr>Activity Diagram</vt:lpstr>
      <vt:lpstr> State Machine Diagram </vt:lpstr>
      <vt:lpstr> State Machine Diagram </vt:lpstr>
      <vt:lpstr>Data Flow Diagram (DFD)</vt:lpstr>
      <vt:lpstr>Data flow Diagram</vt:lpstr>
      <vt:lpstr>0-Level</vt:lpstr>
      <vt:lpstr>0-level</vt:lpstr>
      <vt:lpstr>1-level</vt:lpstr>
      <vt:lpstr>PowerPoint Presentation</vt:lpstr>
      <vt:lpstr>2-level</vt:lpstr>
      <vt:lpstr>PowerPoint Presentation</vt:lpstr>
      <vt:lpstr>PowerPoint Presentation</vt:lpstr>
      <vt:lpstr>Assignment 2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models</dc:title>
  <dc:creator>DELL</dc:creator>
  <cp:lastModifiedBy>DELL</cp:lastModifiedBy>
  <cp:revision>90</cp:revision>
  <dcterms:created xsi:type="dcterms:W3CDTF">2006-08-16T00:00:00Z</dcterms:created>
  <dcterms:modified xsi:type="dcterms:W3CDTF">2022-06-07T06:34:28Z</dcterms:modified>
</cp:coreProperties>
</file>